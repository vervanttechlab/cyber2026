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</ns0:sldIdLst>
  <ns0:sldSz cx="12192000" cy="6858000" type="screen4x3"/>
  <ns0:notesSz cx="6858000" cy="9144000"/>
  <ns0:embeddedFontLst>
    <ns0:embeddedFont>
      <ns0:font typeface="Inter"/>
      <ns0:bold ns1:id="rIdFont22"/>
      <ns0:regular ns1:id="rIdFont23"/>
    </ns0:embeddedFont>
    <ns0:embeddedFont>
      <ns0:font typeface="Montserrat"/>
      <ns0:bold ns1:id="rIdFont24"/>
    </ns0:embeddedFont>
    <ns0:embeddedFont>
      <ns0:font typeface="Fira Code"/>
      <ns0:regular ns1:id="rIdFont2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Font22" Type="http://schemas.openxmlformats.org/officeDocument/2006/relationships/font" Target="fonts/f9b6f287-a321-4602-b563-15ec26da328c.fntdata" /><ns0:Relationship Id="rIdFont23" Type="http://schemas.openxmlformats.org/officeDocument/2006/relationships/font" Target="fonts/acd3a441-2cf6-4190-9f40-7919565d52bb.fntdata" /><ns0:Relationship Id="rIdFont24" Type="http://schemas.openxmlformats.org/officeDocument/2006/relationships/font" Target="fonts/8a2d3335-f47b-4cf3-87cf-506b07dc1fc4.fntdata" /><ns0:Relationship Id="rIdFont25" Type="http://schemas.openxmlformats.org/officeDocument/2006/relationships/font" Target="fonts/f2e32f0c-c4fd-45e2-9686-b345bd4a5c9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575595"/>
            <a:ext cx="10972800" cy="1028700"/>
          </a:xfrm>
          <a:prstGeom prst="roundRect">
            <a:avLst>
              <a:gd name="adj" fmla="val 11111"/>
            </a:avLst>
          </a:prstGeom>
          <a:solidFill>
            <a:srgbClr val="324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575595"/>
            <a:ext cx="57150" cy="102870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587" y="5271045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062" y="5518695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5550" y="5271045"/>
            <a:ext cx="457200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9537" y="5271045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9537" y="5537745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9537" y="5804445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9537" y="6071145"/>
            <a:ext cx="13335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615404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9688"/>
                </a:solidFill>
                <a:latin typeface="Inter"/>
              </a:rPr>
              <a:t>CYBER THREAT MONITORING LEVEL I, DAY 08 OF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996404"/>
            <a:ext cx="11582400" cy="1340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FFFFFF"/>
                </a:solidFill>
                <a:latin typeface="Montserrat"/>
              </a:rPr>
              <a:t>Verify: Does the Tool's Story Match the Evidence?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565945"/>
            <a:ext cx="110680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CBD5E1"/>
                </a:solidFill>
                <a:latin typeface="Inter"/>
              </a:rPr>
              <a:t>Live demo 8:00-11:45  |  Self-study 1:00-4:00  |  On your own machine — your Day 6 EICAR is the 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50" y="3804195"/>
            <a:ext cx="112966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Inter"/>
              </a:rPr>
              <a:t>The line between THREAT and DETECTION is CONTAINMENT.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4128045"/>
            <a:ext cx="112966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FFFFFF"/>
                </a:solidFill>
                <a:latin typeface="Inter"/>
              </a:rPr>
              <a:t>The tool tells a STORY. The log is the EVIDENCE. An analyst verifies, never repeats.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2837" y="5994945"/>
            <a:ext cx="1181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The 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54290" y="5994945"/>
            <a:ext cx="155971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The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9087" y="5251995"/>
            <a:ext cx="6381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Inter"/>
              </a:rPr>
              <a:t>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9087" y="5518695"/>
            <a:ext cx="7048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Inter"/>
              </a:rPr>
              <a:t>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9087" y="5785395"/>
            <a:ext cx="6000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Inter"/>
              </a:rPr>
              <a:t>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9087" y="6052095"/>
            <a:ext cx="7429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Inter"/>
              </a:rPr>
              <a:t>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199233"/>
            <a:ext cx="329178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01380" y="2199233"/>
            <a:ext cx="768101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5800725"/>
            <a:ext cx="2072580" cy="600075"/>
          </a:xfrm>
          <a:prstGeom prst="roundRect">
            <a:avLst>
              <a:gd name="adj" fmla="val 190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34580" y="5800725"/>
            <a:ext cx="2072580" cy="600075"/>
          </a:xfrm>
          <a:prstGeom prst="roundRect">
            <a:avLst>
              <a:gd name="adj" fmla="val 190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59560" y="5800725"/>
            <a:ext cx="2072580" cy="600075"/>
          </a:xfrm>
          <a:prstGeom prst="roundRect">
            <a:avLst>
              <a:gd name="adj" fmla="val 190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84541" y="5800725"/>
            <a:ext cx="2072580" cy="600075"/>
          </a:xfrm>
          <a:prstGeom prst="roundRect">
            <a:avLst>
              <a:gd name="adj" fmla="val 190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09521" y="5800725"/>
            <a:ext cx="2072580" cy="600075"/>
          </a:xfrm>
          <a:prstGeom prst="roundRect">
            <a:avLst>
              <a:gd name="adj" fmla="val 190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742158"/>
            <a:ext cx="329178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01380" y="2742158"/>
            <a:ext cx="768101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3513683"/>
            <a:ext cx="329178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01380" y="3513683"/>
            <a:ext cx="768101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4056608"/>
            <a:ext cx="329178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01380" y="4056608"/>
            <a:ext cx="768101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4599533"/>
            <a:ext cx="329178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01380" y="4599533"/>
            <a:ext cx="768101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5142458"/>
            <a:ext cx="329178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01380" y="5142458"/>
            <a:ext cx="768101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09600" y="1670595"/>
          <a:ext cx="10972799" cy="34861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291780"/>
                <a:gridCol w="7681019"/>
              </a:tblGrid>
              <a:tr h="581025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Montserrat"/>
                        </a:rPr>
                        <a:t>Topic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Montserrat"/>
                        </a:rPr>
                        <a:t>What you will be able to do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1B3A5C"/>
                          </a:solidFill>
                          <a:latin typeface="Inter"/>
                        </a:rPr>
                        <a:t>8.1 Two Stories, One Event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B3A5C"/>
                          </a:solidFill>
                          <a:latin typeface="Inter"/>
                        </a:rPr>
                        <a:t>Put the tool's story next to the raw log and check four things match.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1B3A5C"/>
                          </a:solidFill>
                          <a:latin typeface="Inter"/>
                        </a:rPr>
                        <a:t>8.2 Did the Action Really Happen?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B3A5C"/>
                          </a:solidFill>
                          <a:latin typeface="Inter"/>
                        </a:rPr>
                        <a:t>Prove an action three ways instead of assuming it.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1B3A5C"/>
                          </a:solidFill>
                          <a:latin typeface="Inter"/>
                        </a:rPr>
                        <a:t>8.3 Up to Date, or Patched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B3A5C"/>
                          </a:solidFill>
                          <a:latin typeface="Inter"/>
                        </a:rPr>
                        <a:t>Read four version layers, run the update, report what is behind.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1B3A5C"/>
                          </a:solidFill>
                          <a:latin typeface="Inter"/>
                        </a:rPr>
                        <a:t>8.4 Scan the Suspect Machine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B3A5C"/>
                          </a:solidFill>
                          <a:latin typeface="Inter"/>
                        </a:rPr>
                        <a:t>Choose quick, full, custom or offline — and say why.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1B3A5C"/>
                          </a:solidFill>
                          <a:latin typeface="Inter"/>
                        </a:rPr>
                        <a:t>8.5 The Verification Worksheet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B3A5C"/>
                          </a:solidFill>
                          <a:latin typeface="Inter"/>
                        </a:rPr>
                        <a:t>Fill the SOP worksheet and write a verdict with a reason.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09600" y="457200"/>
            <a:ext cx="11582400" cy="479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1B3A5C"/>
                </a:solidFill>
                <a:latin typeface="Montserrat"/>
              </a:rPr>
              <a:t>Five Topics: Check What the Tool Said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1013370"/>
            <a:ext cx="115824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2E75B6"/>
                </a:solidFill>
                <a:latin typeface="Inter"/>
              </a:rPr>
              <a:t>Yesterday you checked the tool was working. Today you check whether what it said is true.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285" y="5962650"/>
            <a:ext cx="229520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2E75B6"/>
                </a:solidFill>
                <a:latin typeface="Montserrat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23266" y="5962650"/>
            <a:ext cx="229520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2E75B6"/>
                </a:solidFill>
                <a:latin typeface="Montserrat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48246" y="5962650"/>
            <a:ext cx="229520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2E75B6"/>
                </a:solidFill>
                <a:latin typeface="Montserrat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3227" y="5962650"/>
            <a:ext cx="229520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2E75B6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98207" y="5962650"/>
            <a:ext cx="229520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2E75B6"/>
                </a:solidFill>
                <a:latin typeface="Montserrat"/>
              </a:rPr>
              <a:t>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194720"/>
            <a:ext cx="109728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819775"/>
            <a:ext cx="10972800" cy="5810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819775"/>
            <a:ext cx="57150" cy="581025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1518195"/>
            <a:ext cx="5295900" cy="2295525"/>
          </a:xfrm>
          <a:prstGeom prst="roundRect">
            <a:avLst>
              <a:gd name="adj" fmla="val 4979"/>
            </a:avLst>
          </a:prstGeom>
          <a:solidFill>
            <a:srgbClr val="F8FAFC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86500" y="1518195"/>
            <a:ext cx="5295900" cy="2295525"/>
          </a:xfrm>
          <a:prstGeom prst="roundRect">
            <a:avLst>
              <a:gd name="adj" fmla="val 4979"/>
            </a:avLst>
          </a:prstGeom>
          <a:solidFill>
            <a:srgbClr val="F8FAFC"/>
          </a:solidFill>
          <a:ln w="19050">
            <a:solidFill>
              <a:srgbClr val="0096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22674" y="4470945"/>
            <a:ext cx="3810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05189" y="4470945"/>
            <a:ext cx="3810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11505" y="4470945"/>
            <a:ext cx="3810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116" y="4356645"/>
            <a:ext cx="20002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4857" y="4356645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372" y="4356645"/>
            <a:ext cx="200025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3688" y="4356645"/>
            <a:ext cx="200025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" y="1865858"/>
            <a:ext cx="228600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0350" y="1865858"/>
            <a:ext cx="17145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11582400" cy="479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1B3A5C"/>
                </a:solidFill>
                <a:latin typeface="Montserrat"/>
              </a:rPr>
              <a:t>The Story and the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1013370"/>
            <a:ext cx="115824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2E75B6"/>
                </a:solidFill>
                <a:latin typeface="Inter"/>
              </a:rPr>
              <a:t>When the story and the log disagree, believe the log.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5972175"/>
            <a:ext cx="106108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B3A5C"/>
                </a:solidFill>
                <a:latin typeface="Inter"/>
              </a:rPr>
              <a:t>Four things must match: TIME · THREAT NAME · FILE PATH · ACTION.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241" y="4356645"/>
            <a:ext cx="1000125" cy="24765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B3A5C"/>
                </a:solidFill>
                <a:latin typeface="Inter"/>
              </a:rPr>
              <a:t>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1982" y="4356645"/>
            <a:ext cx="1104900" cy="24765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B3A5C"/>
                </a:solidFill>
                <a:latin typeface="Inter"/>
              </a:rPr>
              <a:t>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4497" y="4356645"/>
            <a:ext cx="1028700" cy="24765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B3A5C"/>
                </a:solidFill>
                <a:latin typeface="Inter"/>
              </a:rPr>
              <a:t>PATH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40813" y="4356645"/>
            <a:ext cx="1276350" cy="24765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B3A5C"/>
                </a:solidFill>
                <a:latin typeface="Inter"/>
              </a:rPr>
              <a:t>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6350" y="1842045"/>
            <a:ext cx="5740717" cy="2762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1B3A5C"/>
                </a:solidFill>
                <a:latin typeface="Montserrat"/>
              </a:rPr>
              <a:t>THE 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6100" y="1842045"/>
            <a:ext cx="5295900" cy="2762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800" i="0" u="none">
                <a:solidFill>
                  <a:srgbClr val="1B3A5C"/>
                </a:solidFill>
                <a:latin typeface="Montserrat"/>
              </a:rPr>
              <a:t>THE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7275" y="2270670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2050" y="2270670"/>
            <a:ext cx="5524500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Protection history menu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7275" y="2575470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2050" y="2575470"/>
            <a:ext cx="5524500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The popup alert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7275" y="2880270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2050" y="2880270"/>
            <a:ext cx="5524500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The IT ticket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7275" y="3185070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2050" y="3185070"/>
            <a:ext cx="5524500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A summary written by a tool or person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4175" y="2270670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8950" y="2270670"/>
            <a:ext cx="5353050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Windows Defender Operational log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4175" y="2575470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8950" y="2575470"/>
            <a:ext cx="5353050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34155"/>
                </a:solidFill>
                <a:latin typeface="Inter"/>
              </a:rPr>
              <a:t>Event 1116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= Detected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34175" y="2880270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8950" y="2880270"/>
            <a:ext cx="5353050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34155"/>
                </a:solidFill>
                <a:latin typeface="Inter"/>
              </a:rPr>
              <a:t>Event 1117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= Action taken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34175" y="3185070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8950" y="3185070"/>
            <a:ext cx="5353050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34155"/>
                </a:solidFill>
                <a:latin typeface="Inter"/>
              </a:rPr>
              <a:t>Event 1118 / 1119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= Action FAILED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19775"/>
            <a:ext cx="10972800" cy="5810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819775"/>
            <a:ext cx="57150" cy="5810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518195"/>
            <a:ext cx="10972800" cy="1000125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746920"/>
            <a:ext cx="10972800" cy="1000125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518195"/>
            <a:ext cx="57150" cy="1000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746920"/>
            <a:ext cx="57150" cy="10001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479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1B3A5C"/>
                </a:solidFill>
                <a:latin typeface="Montserrat"/>
              </a:rPr>
              <a:t>The Ticket Said Quarantined. The Log Said Failed.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013370"/>
            <a:ext cx="115824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2E75B6"/>
                </a:solidFill>
                <a:latin typeface="Inter"/>
              </a:rPr>
              <a:t>And sometimes the log says MORE than the story.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051845"/>
            <a:ext cx="110680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334155"/>
                </a:solidFill>
                <a:latin typeface="Inter"/>
              </a:rPr>
              <a:t>The log might show an extra file, another time, or an </a:t>
            </a:r>
            <a:r>
              <a:rPr b="1" sz="1650" i="0" u="none">
                <a:solidFill>
                  <a:srgbClr val="334155"/>
                </a:solidFill>
                <a:latin typeface="Inter"/>
              </a:rPr>
              <a:t>Event 1116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 (found) with no </a:t>
            </a:r>
            <a:r>
              <a:rPr b="1" sz="1650" i="0" u="none">
                <a:solidFill>
                  <a:srgbClr val="334155"/>
                </a:solidFill>
                <a:latin typeface="Inter"/>
              </a:rPr>
              <a:t>Event 1117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 (action taken) at all. This means it found a threat but did nothing.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5972175"/>
            <a:ext cx="106108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B3A5C"/>
                </a:solidFill>
                <a:latin typeface="Inter"/>
              </a:rPr>
              <a:t>Read the lines around your event. The summary is not the whole record.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1746795"/>
            <a:ext cx="112966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65F46"/>
                </a:solidFill>
                <a:latin typeface="Inter"/>
              </a:rPr>
              <a:t>THE TICKET (STORY)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2013495"/>
            <a:ext cx="112966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Fira Code"/>
              </a:rPr>
              <a:t>Wacatac quarantined — contained. Closed.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50" y="2975520"/>
            <a:ext cx="112966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91B1B"/>
                </a:solidFill>
                <a:latin typeface="Inter"/>
              </a:rPr>
              <a:t>THE LOG (EVIDENCE)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3242220"/>
            <a:ext cx="112966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7F1D1D"/>
                </a:solidFill>
                <a:latin typeface="Fira Code"/>
              </a:rPr>
              <a:t>14:05:12  Event 1118  ... the action FAILED. File is in 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19775"/>
            <a:ext cx="10972800" cy="5810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819775"/>
            <a:ext cx="57150" cy="581025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030587"/>
            <a:ext cx="2072580" cy="9715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34580" y="3030587"/>
            <a:ext cx="2072580" cy="9715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59560" y="3030587"/>
            <a:ext cx="2072580" cy="9715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84541" y="3030587"/>
            <a:ext cx="2072580" cy="9715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09521" y="3030587"/>
            <a:ext cx="2072580" cy="97155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890" y="3611612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440" y="3611612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990" y="3611612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540" y="3611612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870" y="3611612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420" y="3611612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8970" y="3611612"/>
            <a:ext cx="1333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520" y="3611612"/>
            <a:ext cx="1333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851" y="3611612"/>
            <a:ext cx="1333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401" y="3611612"/>
            <a:ext cx="1333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3951" y="3611612"/>
            <a:ext cx="1333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501" y="3611612"/>
            <a:ext cx="1333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9831" y="3611612"/>
            <a:ext cx="1333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9381" y="3611612"/>
            <a:ext cx="13335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8931" y="3611612"/>
            <a:ext cx="13335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8481" y="3611612"/>
            <a:ext cx="13335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4812" y="3611612"/>
            <a:ext cx="13335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4362" y="3611612"/>
            <a:ext cx="133350" cy="1524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3912" y="3611612"/>
            <a:ext cx="133350" cy="1524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3462" y="3611612"/>
            <a:ext cx="133350" cy="1524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9600" y="457200"/>
            <a:ext cx="11582400" cy="479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1B3A5C"/>
                </a:solidFill>
                <a:latin typeface="Montserrat"/>
              </a:rPr>
              <a:t>Activity 1 — Five Cases, Four Ticks Each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1013370"/>
            <a:ext cx="115824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2E75B6"/>
                </a:solidFill>
                <a:latin typeface="Inter"/>
              </a:rPr>
              <a:t>Practice matching the story to the evidence.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5972175"/>
            <a:ext cx="106108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B3A5C"/>
                </a:solidFill>
                <a:latin typeface="Inter"/>
              </a:rPr>
              <a:t>Two cases are clean. Three are not — in three different ways. Find them.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900" y="1516290"/>
            <a:ext cx="1143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1518195"/>
            <a:ext cx="11353800" cy="377130"/>
          </a:xfrm>
          <a:prstGeom prst="rect">
            <a:avLst/>
          </a:prstGeom>
          <a:noFill/>
        </p:spPr>
        <p:txBody>
          <a:bodyPr wrap="none" lIns="11430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b="0" sz="1650" i="0" u="none">
                <a:solidFill>
                  <a:srgbClr val="1E293B"/>
                </a:solidFill>
                <a:latin typeface="Inter"/>
              </a:rPr>
              <a:t>In your team, take the five cases. Each has a story and a raw log.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3900" y="1893421"/>
            <a:ext cx="1143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1895326"/>
            <a:ext cx="11353800" cy="377130"/>
          </a:xfrm>
          <a:prstGeom prst="rect">
            <a:avLst/>
          </a:prstGeom>
          <a:noFill/>
        </p:spPr>
        <p:txBody>
          <a:bodyPr wrap="none" lIns="11430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b="0" sz="1650" i="0" u="none">
                <a:solidFill>
                  <a:srgbClr val="1E293B"/>
                </a:solidFill>
                <a:latin typeface="Inter"/>
              </a:rPr>
              <a:t>For each: tick or cross TIME, NAME, PATH, ACTION. Write every mismatch.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3900" y="2270551"/>
            <a:ext cx="1143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2272456"/>
            <a:ext cx="11353800" cy="377130"/>
          </a:xfrm>
          <a:prstGeom prst="rect">
            <a:avLst/>
          </a:prstGeom>
          <a:noFill/>
        </p:spPr>
        <p:txBody>
          <a:bodyPr wrap="none" lIns="11430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b="0" sz="1650" i="0" u="none">
                <a:solidFill>
                  <a:srgbClr val="1E293B"/>
                </a:solidFill>
                <a:latin typeface="Inter"/>
              </a:rPr>
              <a:t>Then: is the action PROVEN? (Is there a 1117 with error code 0?)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41090" y="3268712"/>
            <a:ext cx="94011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B3A5C"/>
                </a:solidFill>
                <a:latin typeface="Inter"/>
              </a:rPr>
              <a:t>Case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47020" y="3268712"/>
            <a:ext cx="98012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B3A5C"/>
                </a:solidFill>
                <a:latin typeface="Inter"/>
              </a:rPr>
              <a:t>Case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72001" y="3268712"/>
            <a:ext cx="98012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B3A5C"/>
                </a:solidFill>
                <a:latin typeface="Inter"/>
              </a:rPr>
              <a:t>Case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92219" y="3268712"/>
            <a:ext cx="99012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B3A5C"/>
                </a:solidFill>
                <a:latin typeface="Inter"/>
              </a:rPr>
              <a:t>Case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26724" y="3268712"/>
            <a:ext cx="97012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B3A5C"/>
                </a:solidFill>
                <a:latin typeface="Inter"/>
              </a:rPr>
              <a:t>Case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23495"/>
            <a:ext cx="10972800" cy="5810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823495"/>
            <a:ext cx="57150" cy="581025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518195"/>
            <a:ext cx="10972800" cy="847725"/>
          </a:xfrm>
          <a:prstGeom prst="roundRect">
            <a:avLst>
              <a:gd name="adj" fmla="val 1348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556420"/>
            <a:ext cx="10972800" cy="866775"/>
          </a:xfrm>
          <a:prstGeom prst="roundRect">
            <a:avLst>
              <a:gd name="adj" fmla="val 131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613695"/>
            <a:ext cx="10972800" cy="866775"/>
          </a:xfrm>
          <a:prstGeom prst="roundRect">
            <a:avLst>
              <a:gd name="adj" fmla="val 131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38300" y="4823370"/>
            <a:ext cx="828675" cy="3048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19375" y="4823370"/>
            <a:ext cx="828675" cy="3048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00450" y="4823370"/>
            <a:ext cx="895350" cy="3048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48200" y="4823370"/>
            <a:ext cx="1323975" cy="3048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4575" y="4823370"/>
            <a:ext cx="1038225" cy="3048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29500" y="4823370"/>
            <a:ext cx="1057275" cy="3048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457200"/>
            <a:ext cx="11582400" cy="479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1B3A5C"/>
                </a:solidFill>
                <a:latin typeface="Montserrat"/>
              </a:rPr>
              <a:t>Proven, Not Assumed — Three Proofs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1013370"/>
            <a:ext cx="115824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2E75B6"/>
                </a:solidFill>
                <a:latin typeface="Inter"/>
              </a:rPr>
              <a:t>Do not guess. Find the evidence.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39487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4748B"/>
                </a:solidFill>
                <a:latin typeface="Inter"/>
              </a:rPr>
              <a:t>RE-IMAGE (new today):</a:t>
            </a:r>
            <a:r>
              <a:rPr b="0" sz="1350" i="0" u="none">
                <a:solidFill>
                  <a:srgbClr val="64748B"/>
                </a:solidFill>
                <a:latin typeface="Inter"/>
              </a:rPr>
              <a:t> wipe and rebuild. Used when the others cannot be trusted. An L1 recommends it, but does not do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5975895"/>
            <a:ext cx="106108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B3A5C"/>
                </a:solidFill>
                <a:latin typeface="Inter"/>
              </a:rPr>
              <a:t>ThreatStatusID 1, or anything over 100, = NOT contained = THREAT.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4875758"/>
            <a:ext cx="11239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B3A5C"/>
                </a:solidFill>
                <a:latin typeface="Inter"/>
              </a:rPr>
              <a:t>ACTIONS: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0700" y="4880520"/>
            <a:ext cx="6191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Inter"/>
              </a:rPr>
              <a:t>FAILED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1775" y="4880520"/>
            <a:ext cx="6191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CLEAN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52850" y="488052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DELETE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4880520"/>
            <a:ext cx="11144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QUARANTINE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6975" y="4880520"/>
            <a:ext cx="828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BLOCKED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1900" y="4880520"/>
            <a:ext cx="847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Inter"/>
              </a:rPr>
              <a:t>RE-IMAGE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850" y="1756320"/>
            <a:ext cx="66675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2E75B6"/>
                </a:solidFill>
                <a:latin typeface="Inter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850" y="2804070"/>
            <a:ext cx="66675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2E75B6"/>
                </a:solidFill>
                <a:latin typeface="Inter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850" y="3861345"/>
            <a:ext cx="66675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2E75B6"/>
                </a:solidFill>
                <a:latin typeface="Inter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57325" y="1680120"/>
            <a:ext cx="430053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B3A5C"/>
                </a:solidFill>
                <a:latin typeface="Montserrat"/>
              </a:rPr>
              <a:t>THE LOG SAID 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57325" y="1975395"/>
            <a:ext cx="4095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Event 1117, Error Code 0x00000000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57325" y="2718345"/>
            <a:ext cx="107346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B3A5C"/>
                </a:solidFill>
                <a:latin typeface="Montserrat"/>
              </a:rPr>
              <a:t>THE TOOL SAYS IT SUCCEEDED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7325" y="3013620"/>
            <a:ext cx="107156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Fira Code"/>
              </a:rPr>
              <a:t>Get-MpThreatDetection: ActionSuccess = True; ThreatStatusID (2, 3, 4, or 6)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7325" y="3775620"/>
            <a:ext cx="30003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B3A5C"/>
                </a:solidFill>
                <a:latin typeface="Montserrat"/>
              </a:rPr>
              <a:t>THE FILE IS GONE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57325" y="4070895"/>
            <a:ext cx="28575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Fira Code"/>
              </a:rPr>
              <a:t>Test-Path "" = False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19626"/>
            <a:ext cx="10972800" cy="5810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819626"/>
            <a:ext cx="57150" cy="581025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3808809"/>
            <a:ext cx="1524000" cy="952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900" y="4875609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3808809"/>
            <a:ext cx="1524000" cy="952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4875609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2800" y="3808809"/>
            <a:ext cx="1524000" cy="952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0" y="4875609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4132659"/>
            <a:ext cx="3048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4132659"/>
            <a:ext cx="3048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4132659"/>
            <a:ext cx="3048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479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1B3A5C"/>
                </a:solidFill>
                <a:latin typeface="Montserrat"/>
              </a:rPr>
              <a:t>Activity 2 — Your Own EICAR, Three Ways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1013370"/>
            <a:ext cx="115824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2E75B6"/>
                </a:solidFill>
                <a:latin typeface="Inter"/>
              </a:rPr>
              <a:t>Build your own case file from Day 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5972026"/>
            <a:ext cx="106108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B3A5C"/>
                </a:solidFill>
                <a:latin typeface="Inter"/>
              </a:rPr>
              <a:t>Three screenshots = one proven action. Into Evidence/Day_08.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1516290"/>
            <a:ext cx="1143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1518195"/>
            <a:ext cx="11353800" cy="377130"/>
          </a:xfrm>
          <a:prstGeom prst="rect">
            <a:avLst/>
          </a:prstGeom>
          <a:noFill/>
        </p:spPr>
        <p:txBody>
          <a:bodyPr wrap="none" lIns="11430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b="0" sz="1650" i="0" u="none">
                <a:solidFill>
                  <a:srgbClr val="1E293B"/>
                </a:solidFill>
                <a:latin typeface="Inter"/>
              </a:rPr>
              <a:t>Find the 1117 for your EICAR in the log. Screenshot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1893421"/>
            <a:ext cx="1143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1895326"/>
            <a:ext cx="11353800" cy="377130"/>
          </a:xfrm>
          <a:prstGeom prst="rect">
            <a:avLst/>
          </a:prstGeom>
          <a:noFill/>
        </p:spPr>
        <p:txBody>
          <a:bodyPr wrap="none" lIns="11430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b="0" sz="1650" i="0" u="none">
                <a:solidFill>
                  <a:srgbClr val="1E293B"/>
                </a:solidFill>
                <a:latin typeface="Inter"/>
              </a:rPr>
              <a:t>Run </a:t>
            </a:r>
            <a:r>
              <a:rPr b="0" sz="1650" i="0" u="none">
                <a:solidFill>
                  <a:srgbClr val="1E293B"/>
                </a:solidFill>
                <a:latin typeface="Inter"/>
              </a:rPr>
              <a:t>Get-MpThreatDetection</a:t>
            </a:r>
            <a:r>
              <a:rPr b="0" sz="1650" i="0" u="none">
                <a:solidFill>
                  <a:srgbClr val="1E293B"/>
                </a:solidFill>
                <a:latin typeface="Inter"/>
              </a:rPr>
              <a:t>. Read ActionSuccess and status number. Screenshot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2270551"/>
            <a:ext cx="1143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2272456"/>
            <a:ext cx="11353800" cy="377130"/>
          </a:xfrm>
          <a:prstGeom prst="rect">
            <a:avLst/>
          </a:prstGeom>
          <a:noFill/>
        </p:spPr>
        <p:txBody>
          <a:bodyPr wrap="none" lIns="11430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b="0" sz="1650" i="0" u="none">
                <a:solidFill>
                  <a:srgbClr val="1E293B"/>
                </a:solidFill>
                <a:latin typeface="Inter"/>
              </a:rPr>
              <a:t>Run </a:t>
            </a:r>
            <a:r>
              <a:rPr b="0" sz="1650" i="0" u="none">
                <a:solidFill>
                  <a:srgbClr val="1E293B"/>
                </a:solidFill>
                <a:latin typeface="Inter"/>
              </a:rPr>
              <a:t>Test-Path</a:t>
            </a:r>
            <a:r>
              <a:rPr b="0" sz="1650" i="0" u="none">
                <a:solidFill>
                  <a:srgbClr val="1E293B"/>
                </a:solidFill>
                <a:latin typeface="Inter"/>
              </a:rPr>
              <a:t> on the EICAR file. Screenshot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2647682"/>
            <a:ext cx="1143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2649587"/>
            <a:ext cx="11353800" cy="377130"/>
          </a:xfrm>
          <a:prstGeom prst="rect">
            <a:avLst/>
          </a:prstGeom>
          <a:noFill/>
        </p:spPr>
        <p:txBody>
          <a:bodyPr wrap="none" lIns="11430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b="0" sz="1650" i="0" u="none">
                <a:solidFill>
                  <a:srgbClr val="1E293B"/>
                </a:solidFill>
                <a:latin typeface="Inter"/>
              </a:rPr>
              <a:t>If </a:t>
            </a:r>
            <a:r>
              <a:rPr b="0" sz="1650" i="0" u="none">
                <a:solidFill>
                  <a:srgbClr val="1E293B"/>
                </a:solidFill>
                <a:latin typeface="Inter"/>
              </a:rPr>
              <a:t>Test-Path</a:t>
            </a:r>
            <a:r>
              <a:rPr b="0" sz="1650" i="0" u="none">
                <a:solidFill>
                  <a:srgbClr val="1E293B"/>
                </a:solidFill>
                <a:latin typeface="Inter"/>
              </a:rPr>
              <a:t> says TRUE — the file is still there — that is a FINDING. Write it as you would report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299620"/>
            <a:ext cx="10972800" cy="762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7585620"/>
            <a:ext cx="10972800" cy="5810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7585620"/>
            <a:ext cx="57150" cy="581025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199233"/>
            <a:ext cx="27432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52800" y="2199233"/>
            <a:ext cx="384036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93160" y="2199233"/>
            <a:ext cx="438923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43500" y="6290220"/>
            <a:ext cx="1905000" cy="238125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53000" y="6566445"/>
            <a:ext cx="2286000" cy="238125"/>
          </a:xfrm>
          <a:prstGeom prst="roundRect">
            <a:avLst>
              <a:gd name="adj" fmla="val 16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62500" y="6842670"/>
            <a:ext cx="2667000" cy="238125"/>
          </a:xfrm>
          <a:prstGeom prst="roundRect">
            <a:avLst>
              <a:gd name="adj" fmla="val 16000"/>
            </a:avLst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7118895"/>
            <a:ext cx="3048000" cy="238125"/>
          </a:xfrm>
          <a:prstGeom prst="roundRect">
            <a:avLst>
              <a:gd name="adj" fmla="val 1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2970758"/>
            <a:ext cx="27432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2800" y="2970758"/>
            <a:ext cx="384036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93160" y="2970758"/>
            <a:ext cx="438923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3742283"/>
            <a:ext cx="27432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52800" y="3742283"/>
            <a:ext cx="384036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93160" y="3742283"/>
            <a:ext cx="438923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4513808"/>
            <a:ext cx="27432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52800" y="4513808"/>
            <a:ext cx="384036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93160" y="4513808"/>
            <a:ext cx="438923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600" y="5056733"/>
            <a:ext cx="27432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52800" y="5056733"/>
            <a:ext cx="384036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93160" y="5056733"/>
            <a:ext cx="438923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09600" y="1670595"/>
          <a:ext cx="10972799" cy="34004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43200"/>
                <a:gridCol w="3840360"/>
                <a:gridCol w="4389239"/>
              </a:tblGrid>
              <a:tr h="680085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Montserrat"/>
                        </a:rPr>
                        <a:t>Layer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Montserrat"/>
                        </a:rPr>
                        <a:t>Field / Command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Montserrat"/>
                        </a:rPr>
                        <a:t>"Behind" means...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1B3A5C"/>
                          </a:solidFill>
                          <a:latin typeface="Inter"/>
                        </a:rPr>
                        <a:t>Signatures</a:t>
                      </a:r>
                      <a:r>
                        <a:t>
</a:t>
                      </a:r>
                      <a:r>
                        <a:rPr b="0" sz="1050" i="0" u="none">
                          <a:solidFill>
                            <a:srgbClr val="64748B"/>
                          </a:solidFill>
                          <a:latin typeface="Inter"/>
                        </a:rPr>
                        <a:t>The list of known threats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1B3A5C"/>
                          </a:solidFill>
                          <a:latin typeface="Fira Code"/>
                        </a:rPr>
                        <a:t>AntivirusSignatureVersion</a:t>
                      </a:r>
                      <a:r>
                        <a:t>
</a:t>
                      </a:r>
                      <a:r>
                        <a:rPr b="0" sz="1200" i="0" u="none">
                          <a:solidFill>
                            <a:srgbClr val="1B3A5C"/>
                          </a:solidFill>
                          <a:latin typeface="Fira Code"/>
                        </a:rPr>
                        <a:t>
        AntivirusSignatureAge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B3A5C"/>
                          </a:solidFill>
                          <a:latin typeface="Inter"/>
                        </a:rPr>
                        <a:t>Over 1-2 days old — cannot see this week's threats.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1B3A5C"/>
                          </a:solidFill>
                          <a:latin typeface="Inter"/>
                        </a:rPr>
                        <a:t>Engine</a:t>
                      </a:r>
                      <a:r>
                        <a:t>
</a:t>
                      </a:r>
                      <a:r>
                        <a:rPr b="0" sz="1050" i="0" u="none">
                          <a:solidFill>
                            <a:srgbClr val="64748B"/>
                          </a:solidFill>
                          <a:latin typeface="Inter"/>
                        </a:rPr>
                        <a:t>The scanner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1B3A5C"/>
                          </a:solidFill>
                          <a:latin typeface="Fira Code"/>
                        </a:rPr>
                        <a:t>AMEngineVersion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B3A5C"/>
                          </a:solidFill>
                          <a:latin typeface="Inter"/>
                        </a:rPr>
                        <a:t>Months old.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1B3A5C"/>
                          </a:solidFill>
                          <a:latin typeface="Inter"/>
                        </a:rPr>
                        <a:t>Platform</a:t>
                      </a:r>
                      <a:r>
                        <a:t>
</a:t>
                      </a:r>
                      <a:r>
                        <a:rPr b="0" sz="1050" i="0" u="none">
                          <a:solidFill>
                            <a:srgbClr val="64748B"/>
                          </a:solidFill>
                          <a:latin typeface="Inter"/>
                        </a:rPr>
                        <a:t>The product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1B3A5C"/>
                          </a:solidFill>
                          <a:latin typeface="Fira Code"/>
                        </a:rPr>
                        <a:t>AMProductVersion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B3A5C"/>
                          </a:solidFill>
                          <a:latin typeface="Inter"/>
                        </a:rPr>
                        <a:t>Months old.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80085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1B3A5C"/>
                          </a:solidFill>
                          <a:latin typeface="Inter"/>
                        </a:rPr>
                        <a:t>Operating System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1B3A5C"/>
                          </a:solidFill>
                          <a:latin typeface="Fira Code"/>
                        </a:rPr>
                        <a:t>Get-HotFix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B3A5C"/>
                          </a:solidFill>
                          <a:latin typeface="Inter"/>
                        </a:rPr>
                        <a:t>No security update in over a month.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09600" y="457200"/>
            <a:ext cx="11582400" cy="479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1B3A5C"/>
                </a:solidFill>
                <a:latin typeface="Montserrat"/>
              </a:rPr>
              <a:t>Four Layers Can Be Out of 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1013370"/>
            <a:ext cx="115824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2E75B6"/>
                </a:solidFill>
                <a:latin typeface="Inter"/>
              </a:rPr>
              <a:t>Check all four before you say a machine is safe.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5452020"/>
            <a:ext cx="10763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Fira Code"/>
              </a:rPr>
              <a:t>&gt; Update-MpSignature </a:t>
            </a:r>
            <a:r>
              <a:t>
</a:t>
            </a:r>
            <a:r>
              <a:rPr b="0" sz="1350" i="0" u="none">
                <a:solidFill>
                  <a:srgbClr val="64748B"/>
                </a:solidFill>
                <a:latin typeface="Fira Code"/>
              </a:rPr>
              <a:t>(or Windows Security &gt; Protection updates &gt; Check for updates)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7738020"/>
            <a:ext cx="1061085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B3A5C"/>
                </a:solidFill>
                <a:latin typeface="Inter"/>
              </a:rPr>
              <a:t>You patch the SIGNATURES yourself. You REPORT the OS; IT patches it in a change window.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43475" y="6328320"/>
            <a:ext cx="23050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FFFFFF"/>
                </a:solidFill>
                <a:latin typeface="Inter"/>
              </a:rPr>
              <a:t>Signatures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5350" y="6604545"/>
            <a:ext cx="27813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FFFFFF"/>
                </a:solidFill>
                <a:latin typeface="Inter"/>
              </a:rPr>
              <a:t>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7225" y="6880770"/>
            <a:ext cx="325755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FFFFFF"/>
                </a:solidFill>
                <a:latin typeface="Inter"/>
              </a:rPr>
              <a:t>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29100" y="7156995"/>
            <a:ext cx="373380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FFFFFF"/>
                </a:solidFill>
                <a:latin typeface="Inter"/>
              </a:rPr>
              <a:t>Operating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604420"/>
            <a:ext cx="10972800" cy="8572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604420"/>
            <a:ext cx="57150" cy="85725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199233"/>
            <a:ext cx="127024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79848" y="2199233"/>
            <a:ext cx="408607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65924" y="2199233"/>
            <a:ext cx="180111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67042" y="2199233"/>
            <a:ext cx="381535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970758"/>
            <a:ext cx="127024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79848" y="2970758"/>
            <a:ext cx="408607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65924" y="2970758"/>
            <a:ext cx="180111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67042" y="2970758"/>
            <a:ext cx="381535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3742283"/>
            <a:ext cx="127024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79848" y="3742283"/>
            <a:ext cx="408607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65924" y="3742283"/>
            <a:ext cx="180111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67042" y="3742283"/>
            <a:ext cx="381535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4513808"/>
            <a:ext cx="127024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79848" y="4513808"/>
            <a:ext cx="408607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65924" y="4513808"/>
            <a:ext cx="180111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67042" y="4513808"/>
            <a:ext cx="381535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" y="5285333"/>
            <a:ext cx="127024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79848" y="5285333"/>
            <a:ext cx="408607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65924" y="5285333"/>
            <a:ext cx="180111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67042" y="5285333"/>
            <a:ext cx="381535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3928020"/>
            <a:ext cx="228600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4699545"/>
            <a:ext cx="228600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270795"/>
            <a:ext cx="228600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499270"/>
            <a:ext cx="228600" cy="1905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499270"/>
            <a:ext cx="228600" cy="190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270795"/>
            <a:ext cx="228600" cy="1905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3928020"/>
            <a:ext cx="228600" cy="1905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4699545"/>
            <a:ext cx="228600" cy="190500"/>
          </a:xfrm>
          <a:prstGeom prst="rect">
            <a:avLst/>
          </a:prstGeom>
        </p:spPr>
      </p:pic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09600" y="1670595"/>
          <a:ext cx="10972798" cy="36290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270248"/>
                <a:gridCol w="4086076"/>
                <a:gridCol w="1801117"/>
                <a:gridCol w="3815357"/>
              </a:tblGrid>
              <a:tr h="725805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Montserrat"/>
                        </a:rPr>
                        <a:t>Scan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Montserrat"/>
                        </a:rPr>
                        <a:t>Looks at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Montserrat"/>
                        </a:rPr>
                        <a:t>Takes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Montserrat"/>
                        </a:rPr>
                        <a:t>Right call when...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/>
                    </a:solidFill>
                  </a:tcPr>
                </a:tc>
              </a:tr>
              <a:tr h="725805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1B3A5C"/>
                          </a:solidFill>
                          <a:latin typeface="Inter"/>
                        </a:rPr>
                        <a:t>Quick</a:t>
                      </a:r>
                    </a:p>
                  </a:txBody>
                  <a:tcPr anchor="ctr" marL="3429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B3A5C"/>
                          </a:solidFill>
                          <a:latin typeface="Inter"/>
                        </a:rPr>
                        <a:t>The usual hiding places — memory, startup, system folders.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B3A5C"/>
                          </a:solidFill>
                          <a:latin typeface="Inter"/>
                        </a:rPr>
                        <a:t>Minutes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B3A5C"/>
                          </a:solidFill>
                          <a:latin typeface="Inter"/>
                        </a:rPr>
                        <a:t>Routine; daily; "just check".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1B3A5C"/>
                          </a:solidFill>
                          <a:latin typeface="Inter"/>
                        </a:rPr>
                        <a:t>Full</a:t>
                      </a:r>
                    </a:p>
                  </a:txBody>
                  <a:tcPr anchor="ctr" marL="3429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B3A5C"/>
                          </a:solidFill>
                          <a:latin typeface="Inter"/>
                        </a:rPr>
                        <a:t>Every file on every drive.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B3A5C"/>
                          </a:solidFill>
                          <a:latin typeface="Inter"/>
                        </a:rPr>
                        <a:t>Hours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B3A5C"/>
                          </a:solidFill>
                          <a:latin typeface="Inter"/>
                        </a:rPr>
                        <a:t>You suspect and don't know where; protection was off.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25805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1B3A5C"/>
                          </a:solidFill>
                          <a:latin typeface="Inter"/>
                        </a:rPr>
                        <a:t>Custom</a:t>
                      </a:r>
                    </a:p>
                  </a:txBody>
                  <a:tcPr anchor="ctr" marL="3429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B3A5C"/>
                          </a:solidFill>
                          <a:latin typeface="Inter"/>
                        </a:rPr>
                        <a:t>One folder, file or drive you choose.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B3A5C"/>
                          </a:solidFill>
                          <a:latin typeface="Inter"/>
                        </a:rPr>
                        <a:t>Seconds to minutes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B3A5C"/>
                          </a:solidFill>
                          <a:latin typeface="Inter"/>
                        </a:rPr>
                        <a:t>You know exactly where — a download, a USB drive.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25805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1B3A5C"/>
                          </a:solidFill>
                          <a:latin typeface="Inter"/>
                        </a:rPr>
                        <a:t>Offline</a:t>
                      </a:r>
                    </a:p>
                  </a:txBody>
                  <a:tcPr anchor="ctr" marL="3429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B3A5C"/>
                          </a:solidFill>
                          <a:latin typeface="Inter"/>
                        </a:rPr>
                        <a:t>The whole system from OUTSIDE Windows.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B3A5C"/>
                          </a:solidFill>
                          <a:latin typeface="Inter"/>
                        </a:rPr>
                        <a:t>15-20 min + restart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1B3A5C"/>
                          </a:solidFill>
                          <a:latin typeface="Inter"/>
                        </a:rPr>
                        <a:t>Malware that comes back, or hides from Windows.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609600" y="457200"/>
            <a:ext cx="11582400" cy="479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1B3A5C"/>
                </a:solidFill>
                <a:latin typeface="Montserrat"/>
              </a:rPr>
              <a:t>Quick, Full, Custom, Offline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1013370"/>
            <a:ext cx="115824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2E75B6"/>
                </a:solidFill>
                <a:latin typeface="Inter"/>
              </a:rPr>
              <a:t>Different tools for different jobs.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5756820"/>
            <a:ext cx="106108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B3A5C"/>
                </a:solidFill>
                <a:latin typeface="Inter"/>
              </a:rPr>
              <a:t>Quick for routine. Custom for one place. Full when you suspect. Offline when the machine can't be trusted.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17117"/>
            <a:ext cx="10972800" cy="704850"/>
          </a:xfrm>
          <a:prstGeom prst="roundRect">
            <a:avLst>
              <a:gd name="adj" fmla="val 1081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819775"/>
            <a:ext cx="10972800" cy="581025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819775"/>
            <a:ext cx="57150" cy="5810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05512" y="4264967"/>
            <a:ext cx="19050" cy="5715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362" y="418876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900" y="4188767"/>
            <a:ext cx="51435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479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1B3A5C"/>
                </a:solidFill>
                <a:latin typeface="Montserrat"/>
              </a:rPr>
              <a:t>Nothing Found Is Not a Failed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013370"/>
            <a:ext cx="115824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2E75B6"/>
                </a:solidFill>
                <a:latin typeface="Inter"/>
              </a:rPr>
              <a:t>Scans clean up what real-time protection missed.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518195"/>
            <a:ext cx="1106805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34155"/>
                </a:solidFill>
                <a:latin typeface="Inter"/>
              </a:rPr>
              <a:t>On a healthy machine, real-time protection removes a threat the moment it lands. A scan is for what real-time protection MISSED: a file that arrived while protection was off, a drive just plugged in, something that hides.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569517"/>
            <a:ext cx="10763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Fira Code"/>
              </a:rPr>
              <a:t>&gt; MpCmdRun.exe -Scan -ScanType 3 -File "" </a:t>
            </a:r>
            <a:r>
              <a:t>
</a:t>
            </a:r>
            <a:r>
              <a:rPr b="0" sz="1200" i="0" u="none">
                <a:solidFill>
                  <a:srgbClr val="059669"/>
                </a:solidFill>
                <a:latin typeface="Fira Code"/>
              </a:rPr>
              <a:t>Scan finished. ... found no threats.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350567"/>
            <a:ext cx="110680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Every scan writes </a:t>
            </a:r>
            <a:r>
              <a:rPr b="1" sz="1500" i="0" u="none">
                <a:solidFill>
                  <a:srgbClr val="334155"/>
                </a:solidFill>
                <a:latin typeface="Inter"/>
              </a:rPr>
              <a:t>Event 1000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(started) and </a:t>
            </a:r>
            <a:r>
              <a:rPr b="1" sz="1500" i="0" u="none">
                <a:solidFill>
                  <a:srgbClr val="334155"/>
                </a:solidFill>
                <a:latin typeface="Inter"/>
              </a:rPr>
              <a:t>Event 1001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(finished). A </a:t>
            </a:r>
            <a:r>
              <a:rPr b="1" sz="1500" i="0" u="none">
                <a:solidFill>
                  <a:srgbClr val="334155"/>
                </a:solidFill>
                <a:latin typeface="Inter"/>
              </a:rPr>
              <a:t>1002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means it stopped early — and a scan that did not finish is not a scan.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5972175"/>
            <a:ext cx="106108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991B1B"/>
                </a:solidFill>
                <a:latin typeface="Inter"/>
              </a:rPr>
              <a:t>WARNING: NEVER run the OFFLINE scan in class. It restarts your machine immediately.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9137" y="4722167"/>
            <a:ext cx="10096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B3A5C"/>
                </a:solidFill>
                <a:latin typeface="Inter"/>
              </a:rPr>
              <a:t>Real-Time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1287" y="4722167"/>
            <a:ext cx="11715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B3A5C"/>
                </a:solidFill>
                <a:latin typeface="Inter"/>
              </a:rPr>
              <a:t>Scan Sweep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19775"/>
            <a:ext cx="10972800" cy="5810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819775"/>
            <a:ext cx="57150" cy="581025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750" y="1820912"/>
            <a:ext cx="3530649" cy="552450"/>
          </a:xfrm>
          <a:prstGeom prst="roundRect">
            <a:avLst>
              <a:gd name="adj" fmla="val 206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750" y="2525762"/>
            <a:ext cx="3530649" cy="552450"/>
          </a:xfrm>
          <a:prstGeom prst="roundRect">
            <a:avLst>
              <a:gd name="adj" fmla="val 206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51750" y="3230612"/>
            <a:ext cx="3530649" cy="590550"/>
          </a:xfrm>
          <a:prstGeom prst="roundRect">
            <a:avLst>
              <a:gd name="adj" fmla="val 19354"/>
            </a:avLst>
          </a:prstGeom>
          <a:solidFill>
            <a:srgbClr val="FEF2F2"/>
          </a:solidFill>
          <a:ln w="9525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0450" y="1982837"/>
            <a:ext cx="20002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0450" y="2687687"/>
            <a:ext cx="20002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0" y="3392537"/>
            <a:ext cx="333375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0" y="3392537"/>
            <a:ext cx="333375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7100" y="3392537"/>
            <a:ext cx="333375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479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1B3A5C"/>
                </a:solidFill>
                <a:latin typeface="Montserrat"/>
              </a:rPr>
              <a:t>Activity 3 — On Your Own Machine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013370"/>
            <a:ext cx="115824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2E75B6"/>
                </a:solidFill>
                <a:latin typeface="Inter"/>
              </a:rPr>
              <a:t>Update your definitions and run two scans.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5972175"/>
            <a:ext cx="106108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B3A5C"/>
                </a:solidFill>
                <a:latin typeface="Inter"/>
              </a:rPr>
              <a:t>This one is watched: before-and-after versions, and the right scan with the right reason.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1516290"/>
            <a:ext cx="1143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1518195"/>
            <a:ext cx="6927800" cy="75426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b="0" sz="1650" i="0" u="none">
                <a:solidFill>
                  <a:srgbClr val="1E293B"/>
                </a:solidFill>
                <a:latin typeface="Inter"/>
              </a:rPr>
              <a:t>Read your signature version. Run the update. Read it again. Write BOTH numbers.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2384851"/>
            <a:ext cx="1143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2386756"/>
            <a:ext cx="6927800" cy="75426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b="0" sz="1650" i="0" u="none">
                <a:solidFill>
                  <a:srgbClr val="1E293B"/>
                </a:solidFill>
                <a:latin typeface="Inter"/>
              </a:rPr>
              <a:t>Make </a:t>
            </a:r>
            <a:r>
              <a:rPr b="0" sz="1650" i="0" u="none">
                <a:solidFill>
                  <a:srgbClr val="1E293B"/>
                </a:solidFill>
                <a:latin typeface="Inter"/>
              </a:rPr>
              <a:t>Documents\ScanTest</a:t>
            </a:r>
            <a:r>
              <a:rPr b="0" sz="1650" i="0" u="none">
                <a:solidFill>
                  <a:srgbClr val="1E293B"/>
                </a:solidFill>
                <a:latin typeface="Inter"/>
              </a:rPr>
              <a:t> with one text file. Run a CUSTOM scan on it. Say what the result means.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3253412"/>
            <a:ext cx="1143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3255317"/>
            <a:ext cx="8540687" cy="377130"/>
          </a:xfrm>
          <a:prstGeom prst="rect">
            <a:avLst/>
          </a:prstGeom>
          <a:noFill/>
        </p:spPr>
        <p:txBody>
          <a:bodyPr wrap="none" lIns="11430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b="0" sz="1650" i="0" u="none">
                <a:solidFill>
                  <a:srgbClr val="1E293B"/>
                </a:solidFill>
                <a:latin typeface="Inter"/>
              </a:rPr>
              <a:t>Start a QUICK scan and leave it running.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950" y="3744843"/>
            <a:ext cx="952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EF4444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3746748"/>
            <a:ext cx="8540687" cy="37713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b="1" sz="1650" i="0" u="none">
                <a:solidFill>
                  <a:srgbClr val="EF4444"/>
                </a:solidFill>
                <a:latin typeface="Inter"/>
              </a:rPr>
              <a:t>Do NOT touch the offline scan.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3675" y="1997124"/>
            <a:ext cx="10191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B3A5C"/>
                </a:solidFill>
                <a:latin typeface="Inter"/>
              </a:rPr>
              <a:t>Versions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3675" y="2701974"/>
            <a:ext cx="1381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B3A5C"/>
                </a:solidFill>
                <a:latin typeface="Inter"/>
              </a:rPr>
              <a:t>Custom Scan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3675" y="3425874"/>
            <a:ext cx="13049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91B1B"/>
                </a:solidFill>
                <a:latin typeface="Inter"/>
              </a:rPr>
              <a:t>Offline Scan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604420"/>
            <a:ext cx="10972800" cy="8572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604420"/>
            <a:ext cx="57150" cy="85725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518195"/>
            <a:ext cx="5410200" cy="438150"/>
          </a:xfrm>
          <a:prstGeom prst="roundRect">
            <a:avLst>
              <a:gd name="adj" fmla="val 260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1518195"/>
            <a:ext cx="5410200" cy="438150"/>
          </a:xfrm>
          <a:prstGeom prst="roundRect">
            <a:avLst>
              <a:gd name="adj" fmla="val 260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2108745"/>
            <a:ext cx="5410200" cy="438150"/>
          </a:xfrm>
          <a:prstGeom prst="roundRect">
            <a:avLst>
              <a:gd name="adj" fmla="val 260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108745"/>
            <a:ext cx="5410200" cy="438150"/>
          </a:xfrm>
          <a:prstGeom prst="roundRect">
            <a:avLst>
              <a:gd name="adj" fmla="val 260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2699295"/>
            <a:ext cx="5410200" cy="438150"/>
          </a:xfrm>
          <a:prstGeom prst="roundRect">
            <a:avLst>
              <a:gd name="adj" fmla="val 260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699295"/>
            <a:ext cx="5410200" cy="438150"/>
          </a:xfrm>
          <a:prstGeom prst="roundRect">
            <a:avLst>
              <a:gd name="adj" fmla="val 260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9600" y="3289845"/>
            <a:ext cx="5410200" cy="438150"/>
          </a:xfrm>
          <a:prstGeom prst="roundRect">
            <a:avLst>
              <a:gd name="adj" fmla="val 260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3289845"/>
            <a:ext cx="5410200" cy="438150"/>
          </a:xfrm>
          <a:prstGeom prst="roundRect">
            <a:avLst>
              <a:gd name="adj" fmla="val 26086"/>
            </a:avLst>
          </a:prstGeom>
          <a:solidFill>
            <a:srgbClr val="E0F2FE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7700" y="4385220"/>
            <a:ext cx="1990725" cy="3810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28925" y="4385220"/>
            <a:ext cx="2895600" cy="381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15025" y="4385220"/>
            <a:ext cx="3124200" cy="381000"/>
          </a:xfrm>
          <a:prstGeom prst="roundRect">
            <a:avLst>
              <a:gd name="adj" fmla="val 5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7700" y="4956720"/>
            <a:ext cx="2705100" cy="381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457200"/>
            <a:ext cx="11582400" cy="479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1B3A5C"/>
                </a:solidFill>
                <a:latin typeface="Montserrat"/>
              </a:rPr>
              <a:t>Eight Rows, Filled in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1013370"/>
            <a:ext cx="115824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2E75B6"/>
                </a:solidFill>
                <a:latin typeface="Inter"/>
              </a:rPr>
              <a:t>The standard operating procedure for every alert.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032795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B3A5C"/>
                </a:solidFill>
                <a:latin typeface="Inter"/>
              </a:rPr>
              <a:t>THE FOUR VERDICTS: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5756820"/>
            <a:ext cx="106108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B3A5C"/>
                </a:solidFill>
                <a:latin typeface="Inter"/>
              </a:rPr>
              <a:t>The verdict comes last, and it must agree with your own rows. Three of the four mean the job is not finished.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1632495"/>
            <a:ext cx="51244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E75B6"/>
                </a:solidFill>
                <a:latin typeface="Inter"/>
              </a:rPr>
              <a:t>1</a:t>
            </a:r>
            <a:r>
              <a:rPr b="0" sz="1200" i="0" u="none">
                <a:solidFill>
                  <a:srgbClr val="1B3A5C"/>
                </a:solidFill>
                <a:latin typeface="Inter"/>
              </a:rPr>
              <a:t> The story (name · path · time · action)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2700" y="1632495"/>
            <a:ext cx="51244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E75B6"/>
                </a:solidFill>
                <a:latin typeface="Inter"/>
              </a:rPr>
              <a:t>2</a:t>
            </a:r>
            <a:r>
              <a:rPr b="0" sz="1200" i="0" u="none">
                <a:solidFill>
                  <a:srgbClr val="1B3A5C"/>
                </a:solidFill>
                <a:latin typeface="Inter"/>
              </a:rPr>
              <a:t> The evidence (from the log)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" y="2223045"/>
            <a:ext cx="51244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E75B6"/>
                </a:solidFill>
                <a:latin typeface="Inter"/>
              </a:rPr>
              <a:t>3</a:t>
            </a:r>
            <a:r>
              <a:rPr b="0" sz="1200" i="0" u="none">
                <a:solidFill>
                  <a:srgbClr val="1B3A5C"/>
                </a:solidFill>
                <a:latin typeface="Inter"/>
              </a:rPr>
              <a:t> Do they match?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2700" y="2223045"/>
            <a:ext cx="51244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E75B6"/>
                </a:solidFill>
                <a:latin typeface="Inter"/>
              </a:rPr>
              <a:t>4</a:t>
            </a:r>
            <a:r>
              <a:rPr b="0" sz="1200" i="0" u="none">
                <a:solidFill>
                  <a:srgbClr val="1B3A5C"/>
                </a:solidFill>
                <a:latin typeface="Inter"/>
              </a:rPr>
              <a:t> Is the action proven?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" y="2813595"/>
            <a:ext cx="51244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E75B6"/>
                </a:solidFill>
                <a:latin typeface="Inter"/>
              </a:rPr>
              <a:t>5</a:t>
            </a:r>
            <a:r>
              <a:rPr b="0" sz="1200" i="0" u="none">
                <a:solidFill>
                  <a:srgbClr val="1B3A5C"/>
                </a:solidFill>
                <a:latin typeface="Inter"/>
              </a:rPr>
              <a:t> Outcome: contained / not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2700" y="2813595"/>
            <a:ext cx="51244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E75B6"/>
                </a:solidFill>
                <a:latin typeface="Inter"/>
              </a:rPr>
              <a:t>6</a:t>
            </a:r>
            <a:r>
              <a:rPr b="0" sz="1200" i="0" u="none">
                <a:solidFill>
                  <a:srgbClr val="1B3A5C"/>
                </a:solidFill>
                <a:latin typeface="Inter"/>
              </a:rPr>
              <a:t> Up to date? (four layers)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" y="3404145"/>
            <a:ext cx="51244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E75B6"/>
                </a:solidFill>
                <a:latin typeface="Inter"/>
              </a:rPr>
              <a:t>7</a:t>
            </a:r>
            <a:r>
              <a:rPr b="0" sz="1200" i="0" u="none">
                <a:solidFill>
                  <a:srgbClr val="1B3A5C"/>
                </a:solidFill>
                <a:latin typeface="Inter"/>
              </a:rPr>
              <a:t> Scan: type · why ·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2700" y="3404145"/>
            <a:ext cx="51244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8</a:t>
            </a:r>
            <a:r>
              <a:rPr b="0" sz="1200" i="0" u="none">
                <a:solidFill>
                  <a:srgbClr val="1B3A5C"/>
                </a:solidFill>
                <a:latin typeface="Inter"/>
              </a:rPr>
              <a:t> VERDICT + reason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4480470"/>
            <a:ext cx="17049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VERIFIED DETECTION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9425" y="4480470"/>
            <a:ext cx="26098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Inter"/>
              </a:rPr>
              <a:t>FAILED ACTION → threat, escalate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05525" y="4480470"/>
            <a:ext cx="2838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Inter"/>
              </a:rPr>
              <a:t>MORE THAN THE STORY → follow 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5051970"/>
            <a:ext cx="2419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Inter"/>
              </a:rPr>
              <a:t>NOT YET ACTED ON → act now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19775"/>
            <a:ext cx="10972800" cy="5810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819775"/>
            <a:ext cx="57150" cy="581025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670595"/>
            <a:ext cx="5334000" cy="2192535"/>
          </a:xfrm>
          <a:prstGeom prst="roundRect">
            <a:avLst>
              <a:gd name="adj" fmla="val 52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1670595"/>
            <a:ext cx="5334000" cy="2192535"/>
          </a:xfrm>
          <a:prstGeom prst="roundRect">
            <a:avLst>
              <a:gd name="adj" fmla="val 52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15076" y="1351672"/>
            <a:ext cx="1104571" cy="1104571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53876" y="1351672"/>
            <a:ext cx="1104570" cy="1104571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156370"/>
            <a:ext cx="20002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15637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479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1B3A5C"/>
                </a:solidFill>
                <a:latin typeface="Montserrat"/>
              </a:rPr>
              <a:t>Where the Evidence Will Come From Later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013370"/>
            <a:ext cx="115824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2E75B6"/>
                </a:solidFill>
                <a:latin typeface="Inter"/>
              </a:rPr>
              <a:t>The process stays the same. The tools get better.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5972175"/>
            <a:ext cx="106108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B3A5C"/>
                </a:solidFill>
                <a:latin typeface="Inter"/>
              </a:rPr>
              <a:t>The worksheet does not change. Only where the evidence comes from.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6076" y="1389772"/>
            <a:ext cx="437821" cy="10283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13F12"/>
                </a:solidFill>
                <a:latin typeface="Inter"/>
              </a:rPr>
              <a:t>PREVIEW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2137320"/>
            <a:ext cx="6375796" cy="276225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B3A5C"/>
                </a:solidFill>
                <a:latin typeface="Montserrat"/>
              </a:rPr>
              <a:t> WINDOWS SANDBOX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2527845"/>
            <a:ext cx="495300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 throw-away copy of Windows inside your Windows. Open something suspicious, close it, it is gone. Needs Windows Pro and more memory than most of our machines have.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34876" y="1389772"/>
            <a:ext cx="437820" cy="10283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13F12"/>
                </a:solidFill>
                <a:latin typeface="Inter"/>
              </a:rPr>
              <a:t>PREVIEW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2137320"/>
            <a:ext cx="5705475" cy="2762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B3A5C"/>
                </a:solidFill>
                <a:latin typeface="Montserrat"/>
              </a:rPr>
              <a:t>WAZUH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2527845"/>
            <a:ext cx="49530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Once our server is built, every 1116 and 1117 from every machine arrives in one place, one search. No more opening local logs one by 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19775"/>
            <a:ext cx="10972800" cy="5810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819775"/>
            <a:ext cx="57150" cy="581025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67300" y="2954387"/>
            <a:ext cx="228600" cy="304800"/>
          </a:xfrm>
          <a:prstGeom prst="roundRect">
            <a:avLst>
              <a:gd name="adj" fmla="val 16666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72100" y="2954387"/>
            <a:ext cx="228600" cy="304800"/>
          </a:xfrm>
          <a:prstGeom prst="roundRect">
            <a:avLst>
              <a:gd name="adj" fmla="val 16666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76900" y="2954387"/>
            <a:ext cx="228600" cy="304800"/>
          </a:xfrm>
          <a:prstGeom prst="roundRect">
            <a:avLst>
              <a:gd name="adj" fmla="val 16666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81700" y="2954387"/>
            <a:ext cx="228600" cy="304800"/>
          </a:xfrm>
          <a:prstGeom prst="roundRect">
            <a:avLst>
              <a:gd name="adj" fmla="val 16666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86500" y="2954387"/>
            <a:ext cx="228600" cy="304800"/>
          </a:xfrm>
          <a:prstGeom prst="roundRect">
            <a:avLst>
              <a:gd name="adj" fmla="val 16666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91300" y="2954387"/>
            <a:ext cx="228600" cy="304800"/>
          </a:xfrm>
          <a:prstGeom prst="roundRect">
            <a:avLst>
              <a:gd name="adj" fmla="val 16666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96100" y="2954387"/>
            <a:ext cx="228600" cy="304800"/>
          </a:xfrm>
          <a:prstGeom prst="roundRect">
            <a:avLst>
              <a:gd name="adj" fmla="val 16666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67100" y="4459337"/>
            <a:ext cx="1143000" cy="1905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67100" y="3906887"/>
            <a:ext cx="19050" cy="57150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91050" y="3906887"/>
            <a:ext cx="19050" cy="57150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38700" y="4459337"/>
            <a:ext cx="1143000" cy="1905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38700" y="3906887"/>
            <a:ext cx="19050" cy="5715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62650" y="3906887"/>
            <a:ext cx="19050" cy="5715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300" y="4459337"/>
            <a:ext cx="1143000" cy="1905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0300" y="3906887"/>
            <a:ext cx="19050" cy="5715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34250" y="3906887"/>
            <a:ext cx="19050" cy="5715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1900" y="4459337"/>
            <a:ext cx="1143000" cy="190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1900" y="3906887"/>
            <a:ext cx="19050" cy="5715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05850" y="3906887"/>
            <a:ext cx="19050" cy="5715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562" y="3487787"/>
            <a:ext cx="142875" cy="190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9600" y="457200"/>
            <a:ext cx="11582400" cy="479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1B3A5C"/>
                </a:solidFill>
                <a:latin typeface="Montserrat"/>
              </a:rPr>
              <a:t>Activity 4 — Seven Situations, One Scan Each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1013370"/>
            <a:ext cx="115824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2E75B6"/>
                </a:solidFill>
                <a:latin typeface="Inter"/>
              </a:rPr>
              <a:t>Match the scan to the scenario.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5972175"/>
            <a:ext cx="106108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B3A5C"/>
                </a:solidFill>
                <a:latin typeface="Inter"/>
              </a:rPr>
              <a:t>The reason is what is marked.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900" y="1516290"/>
            <a:ext cx="1143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1518195"/>
            <a:ext cx="11353800" cy="377130"/>
          </a:xfrm>
          <a:prstGeom prst="rect">
            <a:avLst/>
          </a:prstGeom>
          <a:noFill/>
        </p:spPr>
        <p:txBody>
          <a:bodyPr wrap="none" lIns="11430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b="0" sz="1650" i="0" u="none">
                <a:solidFill>
                  <a:srgbClr val="1E293B"/>
                </a:solidFill>
                <a:latin typeface="Inter"/>
              </a:rPr>
              <a:t>In your team, read the seven situations.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900" y="1893421"/>
            <a:ext cx="1143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895326"/>
            <a:ext cx="11353800" cy="377130"/>
          </a:xfrm>
          <a:prstGeom prst="rect">
            <a:avLst/>
          </a:prstGeom>
          <a:noFill/>
        </p:spPr>
        <p:txBody>
          <a:bodyPr wrap="none" lIns="11430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b="0" sz="1650" i="0" u="none">
                <a:solidFill>
                  <a:srgbClr val="1E293B"/>
                </a:solidFill>
                <a:latin typeface="Inter"/>
              </a:rPr>
              <a:t>For each: quick, full, custom, or offline — and the reason.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3900" y="2270551"/>
            <a:ext cx="1143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72456"/>
            <a:ext cx="11353800" cy="377130"/>
          </a:xfrm>
          <a:prstGeom prst="rect">
            <a:avLst/>
          </a:prstGeom>
          <a:noFill/>
        </p:spPr>
        <p:txBody>
          <a:bodyPr wrap="none" lIns="11430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b="0" sz="1650" i="0" u="none">
                <a:solidFill>
                  <a:srgbClr val="1E293B"/>
                </a:solidFill>
                <a:latin typeface="Inter"/>
              </a:rPr>
              <a:t>One of the seven is the offline scan. Find it.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24225" y="3906887"/>
            <a:ext cx="1428750" cy="4953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b="1" sz="1200" i="0" u="none">
                <a:solidFill>
                  <a:srgbClr val="009688"/>
                </a:solidFill>
                <a:latin typeface="Inter"/>
              </a:rPr>
              <a:t>Quick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5825" y="3906887"/>
            <a:ext cx="1428750" cy="4953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b="1" sz="1200" i="0" u="none">
                <a:solidFill>
                  <a:srgbClr val="2E75B6"/>
                </a:solidFill>
                <a:latin typeface="Inter"/>
              </a:rPr>
              <a:t>Full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67425" y="3906887"/>
            <a:ext cx="1428750" cy="4953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b="1" sz="1200" i="0" u="none">
                <a:solidFill>
                  <a:srgbClr val="1B3A5C"/>
                </a:solidFill>
                <a:latin typeface="Inter"/>
              </a:rPr>
              <a:t>Custom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39025" y="3906887"/>
            <a:ext cx="1428750" cy="4953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b="1" sz="1200" i="0" u="none">
                <a:solidFill>
                  <a:srgbClr val="EF4444"/>
                </a:solidFill>
                <a:latin typeface="Inter"/>
              </a:rPr>
              <a:t>Offline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518195"/>
            <a:ext cx="10972800" cy="480060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709320"/>
            <a:ext cx="10972800" cy="857250"/>
          </a:xfrm>
          <a:prstGeom prst="rect">
            <a:avLst/>
          </a:prstGeom>
          <a:solidFill>
            <a:srgbClr val="324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709320"/>
            <a:ext cx="57150" cy="85725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47875" y="6590258"/>
            <a:ext cx="8677275" cy="762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046833"/>
            <a:ext cx="54858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8180" y="2046833"/>
            <a:ext cx="603498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93160" y="2046833"/>
            <a:ext cx="164589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39051" y="2046833"/>
            <a:ext cx="274334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47875" y="6590258"/>
            <a:ext cx="4598937" cy="7620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2589758"/>
            <a:ext cx="54858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58180" y="2589758"/>
            <a:ext cx="603498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93160" y="2589758"/>
            <a:ext cx="164589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39051" y="2589758"/>
            <a:ext cx="274334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3361283"/>
            <a:ext cx="54858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8180" y="3361283"/>
            <a:ext cx="603498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93160" y="3361283"/>
            <a:ext cx="164589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39051" y="3361283"/>
            <a:ext cx="274334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" y="4132808"/>
            <a:ext cx="54858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8180" y="4132808"/>
            <a:ext cx="603498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93160" y="4132808"/>
            <a:ext cx="164589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39051" y="4132808"/>
            <a:ext cx="274334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600" y="4675733"/>
            <a:ext cx="54858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58180" y="4675733"/>
            <a:ext cx="603498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93160" y="4675733"/>
            <a:ext cx="164589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39051" y="4675733"/>
            <a:ext cx="274334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600" y="5218658"/>
            <a:ext cx="54858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58180" y="5218658"/>
            <a:ext cx="603498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93160" y="5218658"/>
            <a:ext cx="164589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39051" y="5218658"/>
            <a:ext cx="274334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600" y="5761583"/>
            <a:ext cx="54858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58180" y="5761583"/>
            <a:ext cx="603498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93160" y="5761583"/>
            <a:ext cx="164589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39051" y="5761583"/>
            <a:ext cx="274334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9600" y="6304508"/>
            <a:ext cx="54858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58180" y="6304508"/>
            <a:ext cx="603498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93160" y="6304508"/>
            <a:ext cx="164589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39051" y="6304508"/>
            <a:ext cx="274334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609600" y="1518195"/>
          <a:ext cx="10972798" cy="48006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548580"/>
                <a:gridCol w="6034980"/>
                <a:gridCol w="1645890"/>
                <a:gridCol w="2743348"/>
              </a:tblGrid>
              <a:tr h="600075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Montserrat"/>
                        </a:rPr>
                        <a:t>#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Montserrat"/>
                        </a:rPr>
                        <a:t>Task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Montserrat"/>
                        </a:rPr>
                        <a:t>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FFFFFF"/>
                          </a:solidFill>
                          <a:latin typeface="Montserrat"/>
                        </a:rPr>
                        <a:t>Hand 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A5C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Inter"/>
                        </a:rPr>
                        <a:t>Five verification worksheets — the five cases, all eight rows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Inter"/>
                        </a:rPr>
                        <a:t>40 min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Inter"/>
                        </a:rPr>
                        <a:t>5 worksheets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Inter"/>
                        </a:rPr>
                        <a:t>Your own EICAR worksheet, with your three screenshots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Inter"/>
                        </a:rPr>
                        <a:t>20 min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Inter"/>
                        </a:rPr>
                        <a:t>1 worksheet + 3 screenshots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Inter"/>
                        </a:rPr>
                        <a:t>Patch-state report on your machine (before / after, engine, platform, OS)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Inter"/>
                        </a:rPr>
                        <a:t>25 min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Inter"/>
                        </a:rPr>
                        <a:t>Patch-state report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Inter"/>
                        </a:rPr>
                        <a:t>Scan logs: quick, custom, full (let it run) + the offline plan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Inter"/>
                        </a:rPr>
                        <a:t>30 min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Inter"/>
                        </a:rPr>
                        <a:t>3 scan logs + plan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Inter"/>
                        </a:rPr>
                        <a:t>"Which scan?" — seven scenarios with reasons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Inter"/>
                        </a:rPr>
                        <a:t>15 min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Inter"/>
                        </a:rPr>
                        <a:t>7 answers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Inter"/>
                        </a:rPr>
                        <a:t>Self-check one worksheet against your Day 3 QA checklist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Inter"/>
                        </a:rPr>
                        <a:t>10 min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Inter"/>
                        </a:rPr>
                        <a:t>1 self-check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Inter"/>
                        </a:rPr>
                        <a:t>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Inter"/>
                        </a:rPr>
                        <a:t>Reflection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Inter"/>
                        </a:rPr>
                        <a:t>10 min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0F172A"/>
                          </a:solidFill>
                          <a:latin typeface="Inter"/>
                        </a:rPr>
                        <a:t>Three answers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609600" y="457200"/>
            <a:ext cx="11582400" cy="479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FFFFFF"/>
                </a:solidFill>
                <a:latin typeface="Montserrat"/>
              </a:rPr>
              <a:t>This Afternoon — On Your Own, 1:00 to 4:00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600" y="1013370"/>
            <a:ext cx="115824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09688"/>
                </a:solidFill>
                <a:latin typeface="Inter"/>
              </a:rPr>
              <a:t>Complete your verifications.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6861720"/>
            <a:ext cx="1061085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Inter"/>
              </a:rPr>
              <a:t>Today you stopped taking the tool's word for it. Next, Day 9: tell the client, find the action that failed, and escalate it to the right person.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600" y="6547395"/>
            <a:ext cx="160734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BD5E1"/>
                </a:solidFill>
                <a:latin typeface="Inter"/>
              </a:rPr>
              <a:t>COURSE PROGRESS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77550" y="6547395"/>
            <a:ext cx="9906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9688"/>
                </a:solidFill>
                <a:latin typeface="Inter"/>
              </a:rPr>
              <a:t>Day 8 of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
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Fira Code"/>
      <ns0:bold ns1:id="rIdFont22"/>
      <ns0:regular ns1:id="rIdFont23"/>
      <ns0:italic ns1:id="rIdFont24"/>
    </ns0:embeddedFont>
    <ns0:embeddedFont>
      <ns0:font typeface="Inter"/>
      <ns0:italic ns1:id="rIdFont25"/>
      <ns0:bold ns1:id="rIdFont26"/>
      <ns0:regular ns1:id="rIdFont2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0cd0b3c3-0a8b-4d06-bfd6-8b9f1220b0ed.fntdata" /><ns0:Relationship Id="rIdFont23" Type="http://schemas.openxmlformats.org/officeDocument/2006/relationships/font" Target="fonts/2a64166a-7442-4699-9a5e-161e75cb7fb5.fntdata" /><ns0:Relationship Id="rIdFont24" Type="http://schemas.openxmlformats.org/officeDocument/2006/relationships/font" Target="fonts/6615602d-26b9-475c-b27d-5b6eedaece23.fntdata" /><ns0:Relationship Id="rIdFont25" Type="http://schemas.openxmlformats.org/officeDocument/2006/relationships/font" Target="fonts/06b0417b-c20c-434a-83cf-366123c7b67c.fntdata" /><ns0:Relationship Id="rIdFont26" Type="http://schemas.openxmlformats.org/officeDocument/2006/relationships/font" Target="fonts/de6e8e0e-9e5c-4dc9-8ba9-c4a014baa5aa.fntdata" /><ns0:Relationship Id="rIdFont27" Type="http://schemas.openxmlformats.org/officeDocument/2006/relationships/font" Target="fonts/b5b5b901-b7a6-4d34-8831-913d2a12d97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8721"/>
            <a:ext cx="10972800" cy="2438400"/>
          </a:xfrm>
          <a:prstGeom prst="roundRect">
            <a:avLst>
              <a:gd name="adj" fmla="val 6250"/>
            </a:avLst>
          </a:prstGeom>
          <a:solidFill>
            <a:srgbClr val="264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4175521"/>
            <a:ext cx="2667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5" y="4175521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787" y="3565921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612" y="3565921"/>
            <a:ext cx="11430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325" y="3565921"/>
            <a:ext cx="1143000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687" y="3908821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662" y="3908821"/>
            <a:ext cx="3429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650" y="3908821"/>
            <a:ext cx="51435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9362" y="4185046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9688"/>
                </a:solidFill>
                <a:latin typeface="Inter"/>
              </a:rPr>
              <a:t>CYBER THREAT MONITORING LEVEL I, DAY 09 OF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66800"/>
            <a:ext cx="10101262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Inter"/>
              </a:rPr>
              <a:t>Close the Loop: Tell the Client, Find What Failed, Escalate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4837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A0AEC0"/>
                </a:solidFill>
                <a:latin typeface="Inter"/>
              </a:rPr>
              <a:t>Live demo 8:00-11:45  |  Self-study 1:00-4:00  |  Your own machine, a printed log extract, and the ticket 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3271" y="4861321"/>
            <a:ext cx="17740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1. Tell the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6596" y="4861321"/>
            <a:ext cx="21550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2. Find What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6887" y="4861321"/>
            <a:ext cx="1285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3. Escalate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2455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066800"/>
            <a:ext cx="419100" cy="466725"/>
          </a:xfrm>
          <a:prstGeom prst="roundRect">
            <a:avLst>
              <a:gd name="adj" fmla="val 909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1100" y="1066800"/>
            <a:ext cx="447675" cy="466725"/>
          </a:xfrm>
          <a:prstGeom prst="roundRect">
            <a:avLst>
              <a:gd name="adj" fmla="val 851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81175" y="1066800"/>
            <a:ext cx="447675" cy="466725"/>
          </a:xfrm>
          <a:prstGeom prst="roundRect">
            <a:avLst>
              <a:gd name="adj" fmla="val 851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81250" y="1066800"/>
            <a:ext cx="457200" cy="466725"/>
          </a:xfrm>
          <a:prstGeom prst="roundRect">
            <a:avLst>
              <a:gd name="adj" fmla="val 8333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0850" y="1066800"/>
            <a:ext cx="447675" cy="466725"/>
          </a:xfrm>
          <a:prstGeom prst="roundRect">
            <a:avLst>
              <a:gd name="adj" fmla="val 851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052762"/>
            <a:ext cx="3471267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80867" y="3052762"/>
            <a:ext cx="7501532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824287"/>
            <a:ext cx="3471267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80867" y="3824287"/>
            <a:ext cx="7501532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595812"/>
            <a:ext cx="3471267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80867" y="4595812"/>
            <a:ext cx="7501532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138737"/>
            <a:ext cx="3471267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0867" y="5138737"/>
            <a:ext cx="7501532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5681662"/>
            <a:ext cx="3471267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0867" y="5681662"/>
            <a:ext cx="7501532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1990725"/>
          <a:ext cx="10972799" cy="3705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71267"/>
                <a:gridCol w="7501532"/>
              </a:tblGrid>
              <a:tr h="61753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What you will be able to 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61753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3333"/>
                          </a:solidFill>
                          <a:latin typeface="Inter"/>
                        </a:rPr>
                        <a:t>9.1 The Case Is Not Closed Yet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3333"/>
                          </a:solidFill>
                          <a:latin typeface="Inter"/>
                        </a:rPr>
                        <a:t>Say what follow-up is, and who decides a case is closed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753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3333"/>
                          </a:solidFill>
                          <a:latin typeface="Inter"/>
                        </a:rPr>
                        <a:t>9.2 Tell the Client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3333"/>
                          </a:solidFill>
                          <a:latin typeface="Inter"/>
                        </a:rPr>
                        <a:t>Make the verification call and write the same-day confirmation — clean or not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61753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3333"/>
                          </a:solidFill>
                          <a:latin typeface="Inter"/>
                        </a:rPr>
                        <a:t>9.3 Read the Log for What Failed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3333"/>
                          </a:solidFill>
                          <a:latin typeface="Inter"/>
                        </a:rPr>
                        <a:t>Name five kinds of failure and the SOP's next step for each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7537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3333"/>
                          </a:solidFill>
                          <a:latin typeface="Inter"/>
                        </a:rPr>
                        <a:t>9.4 Who Do You Call?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3333"/>
                          </a:solidFill>
                          <a:latin typeface="Inter"/>
                        </a:rPr>
                        <a:t>Choose the right authority — and say why them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617540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333333"/>
                          </a:solidFill>
                          <a:latin typeface="Inter"/>
                        </a:rPr>
                        <a:t>9.5 The Escalation Pack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3333"/>
                          </a:solidFill>
                          <a:latin typeface="Inter"/>
                        </a:rPr>
                        <a:t>Build the pack with evidence, an ask and a deadline; log the trail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Five Topics: Finish the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92455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Yesterday three of the four verdicts meant "not finished". Today is what finishing looks like.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125" y="1181100"/>
            <a:ext cx="400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0625" y="1181100"/>
            <a:ext cx="428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700" y="1181100"/>
            <a:ext cx="428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0775" y="1181100"/>
            <a:ext cx="4381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0375" y="1181100"/>
            <a:ext cx="4286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14350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066800"/>
            <a:ext cx="971550" cy="342900"/>
          </a:xfrm>
          <a:prstGeom prst="roundRect">
            <a:avLst>
              <a:gd name="adj" fmla="val 11111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66900" y="1066800"/>
            <a:ext cx="628650" cy="3429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1300" y="1066800"/>
            <a:ext cx="790575" cy="3429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57625" y="1066800"/>
            <a:ext cx="714375" cy="3429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57750" y="1066800"/>
            <a:ext cx="1066800" cy="3429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1066800"/>
            <a:ext cx="714375" cy="3429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10425" y="1066800"/>
            <a:ext cx="838200" cy="342900"/>
          </a:xfrm>
          <a:prstGeom prst="roundRect">
            <a:avLst>
              <a:gd name="adj" fmla="val 11111"/>
            </a:avLst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34375" y="1066800"/>
            <a:ext cx="1190625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10750" y="1066800"/>
            <a:ext cx="1771650" cy="3429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16205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16205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75" y="116205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162050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116205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16205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825" y="116205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162050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191250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2617142"/>
            <a:ext cx="533400" cy="609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3238500"/>
            <a:ext cx="2667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048000"/>
            <a:ext cx="857250" cy="762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800" y="3238500"/>
            <a:ext cx="2667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725" y="2712392"/>
            <a:ext cx="762000" cy="609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Two People Decide When a Case Is Closed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14350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A case is closed when the client knows the truth and the authority has what they need. Not before.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172200"/>
            <a:ext cx="11582400" cy="2286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53935"/>
                </a:solidFill>
                <a:latin typeface="Inter"/>
              </a:rPr>
              <a:t>A failed action re-opens a closed ticket. NOT CONTAINED = THREAT.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11430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Days 6-8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1143000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3700" y="1143000"/>
            <a:ext cx="581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0025" y="1143000"/>
            <a:ext cx="504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ticket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150" y="114300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check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1143000"/>
            <a:ext cx="504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B3A5C"/>
                </a:solidFill>
                <a:latin typeface="Inter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2825" y="1143000"/>
            <a:ext cx="628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6775" y="1143000"/>
            <a:ext cx="981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FOLLOW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150" y="1143000"/>
            <a:ext cx="1562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ESCALATE / CLOSE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1579" y="3379142"/>
            <a:ext cx="3125390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CLIENT / STAKEHOLDER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5993" y="3669208"/>
            <a:ext cx="29765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66666"/>
                </a:solidFill>
                <a:latin typeface="Inter"/>
              </a:rPr>
              <a:t>Outside the desk. Owns the machine, data, and service. Must know the result.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5029" y="3474392"/>
            <a:ext cx="3125390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APPROPRIATE AUTHORITY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9443" y="3764458"/>
            <a:ext cx="29765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66666"/>
                </a:solidFill>
                <a:latin typeface="Inter"/>
              </a:rPr>
              <a:t>Above the desk. Must have what they need if anything failed.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15315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066800"/>
            <a:ext cx="4829175" cy="4857750"/>
          </a:xfrm>
          <a:prstGeom prst="roundRect">
            <a:avLst>
              <a:gd name="adj" fmla="val 23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53225" y="1066800"/>
            <a:ext cx="4829175" cy="4857750"/>
          </a:xfrm>
          <a:prstGeom prst="roundRect">
            <a:avLst>
              <a:gd name="adj" fmla="val 236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066800"/>
            <a:ext cx="4829175" cy="571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53225" y="1066800"/>
            <a:ext cx="4829175" cy="571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58025" y="2114550"/>
            <a:ext cx="4219575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19950" y="2552700"/>
            <a:ext cx="3895725" cy="952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14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5717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289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86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9433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4005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8577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3149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3267075"/>
            <a:ext cx="40005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28750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025" y="142875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The Call, Then the Confirmation — Same Facts, Same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615315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When the result is bad, say it plainly: "The scan finished, and the threat is still there. It is not clean."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029450"/>
            <a:ext cx="11582400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Inter"/>
              </a:rPr>
              <a:t>Match words to the person — user gets "malicious program"; backup admin gets exact times.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1443930"/>
            <a:ext cx="2625328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800" i="0" u="none">
                <a:solidFill>
                  <a:srgbClr val="1B3A5C"/>
                </a:solidFill>
                <a:latin typeface="Inter"/>
              </a:rPr>
              <a:t>The Call (8 Steps)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5225" y="1443930"/>
            <a:ext cx="3775471" cy="274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800" i="0" u="none">
                <a:solidFill>
                  <a:srgbClr val="1B3A5C"/>
                </a:solidFill>
                <a:latin typeface="Inter"/>
              </a:rPr>
              <a:t>The Written Confirmation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950" y="2276475"/>
            <a:ext cx="39909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Fira Code"/>
              </a:rPr>
              <a:t>Subject: — — CLEAN / NOT CLEAN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950" y="4291607"/>
            <a:ext cx="4869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666666"/>
                </a:solidFill>
                <a:latin typeface="Fira Code"/>
              </a:rPr>
              <a:t> * Pasted directly into the ticket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21145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114550"/>
            <a:ext cx="3333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Who you are + the TICKET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25717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2571750"/>
            <a:ext cx="3381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What was found (plain words)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30289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028950"/>
            <a:ext cx="3655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What was done, and scan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34861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486150"/>
            <a:ext cx="267890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What it means for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39433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943350"/>
            <a:ext cx="221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What happens 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25" y="44005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4400550"/>
            <a:ext cx="1928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One specific 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525" y="48577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857750"/>
            <a:ext cx="42981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9688"/>
                </a:solidFill>
                <a:latin typeface="Inter"/>
              </a:rPr>
              <a:t>READ-BACK</a:t>
            </a:r>
            <a:r>
              <a:rPr b="0" sz="1500" i="0" u="none">
                <a:solidFill>
                  <a:srgbClr val="1A1A1A"/>
                </a:solidFill>
                <a:latin typeface="Inter"/>
              </a:rPr>
              <a:t> ("tell me what you'll do")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53149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314950"/>
            <a:ext cx="3048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"In writing within the hour"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8050" y="2674620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8550" y="2676525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Found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8050" y="2918400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8550" y="2920305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Done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3162180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3.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48550" y="3164085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Scan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8050" y="3405961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4.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8550" y="3407866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What it means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58050" y="3649741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5.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48550" y="3651646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What next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8050" y="3893522"/>
            <a:ext cx="19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A1A1A"/>
                </a:solidFill>
                <a:latin typeface="Fira Code"/>
              </a:rPr>
              <a:t>6.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550" y="3895427"/>
            <a:ext cx="4583906" cy="24378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A1A1A"/>
                </a:solidFill>
                <a:latin typeface="Fira Code"/>
              </a:rPr>
              <a:t>What we need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619500"/>
            <a:ext cx="10972800" cy="16764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5310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066800"/>
            <a:ext cx="5257800" cy="2019300"/>
          </a:xfrm>
          <a:prstGeom prst="roundRect">
            <a:avLst>
              <a:gd name="adj" fmla="val 3773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1066800"/>
            <a:ext cx="5257800" cy="2019300"/>
          </a:xfrm>
          <a:prstGeom prst="roundRect">
            <a:avLst>
              <a:gd name="adj" fmla="val 3773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066800"/>
            <a:ext cx="76200" cy="20193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1066800"/>
            <a:ext cx="76200" cy="201930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8200" y="3848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8200" y="4305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8200" y="47625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295400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2954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Activity 1 — One Clean Call, One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75310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This one is watched on V2: did you say "not clean" plainly, and did you get an ask and a read-back?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38481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848100"/>
            <a:ext cx="3655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In pairs. One analyst, one client.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43053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4305300"/>
            <a:ext cx="2952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Do V1. Swap roles. Do V2.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47625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762500"/>
            <a:ext cx="7965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Hit all eight steps. Ticket ID first. One specific ask. Get the read-back.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340792"/>
            <a:ext cx="2262782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Scenario V1: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17145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1714500"/>
            <a:ext cx="56197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Host: </a:t>
            </a:r>
            <a:r>
              <a:rPr b="1" sz="1500" i="0" u="none">
                <a:solidFill>
                  <a:srgbClr val="1A1A1A"/>
                </a:solidFill>
                <a:latin typeface="Inter"/>
              </a:rPr>
              <a:t>WKS-118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8225" y="20193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019300"/>
            <a:ext cx="56197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Client: Standard user (not technical)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225" y="23241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324100"/>
            <a:ext cx="56197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Result: Threat removed successfully.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340792"/>
            <a:ext cx="2850356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Scenario V2: NOT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3225" y="17145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714500"/>
            <a:ext cx="53340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Host: </a:t>
            </a:r>
            <a:r>
              <a:rPr b="1" sz="1500" i="0" u="none">
                <a:solidFill>
                  <a:srgbClr val="1A1A1A"/>
                </a:solidFill>
                <a:latin typeface="Inter"/>
              </a:rPr>
              <a:t>SRV-BAK-02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3225" y="20193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019300"/>
            <a:ext cx="53340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Client: Backup administrator (technical, worried)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3225" y="232410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324100"/>
            <a:ext cx="53340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A1A1A"/>
                </a:solidFill>
                <a:latin typeface="Inter"/>
              </a:rPr>
              <a:t>Result: Threat still present on scan.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066800"/>
            <a:ext cx="10972800" cy="2771775"/>
          </a:xfrm>
          <a:prstGeom prst="roundRect">
            <a:avLst>
              <a:gd name="adj" fmla="val 2749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905375"/>
            <a:ext cx="10972800" cy="3257550"/>
          </a:xfrm>
          <a:prstGeom prst="roundRect">
            <a:avLst>
              <a:gd name="adj" fmla="val 2339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8391525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72675" y="4752975"/>
            <a:ext cx="1381125" cy="676275"/>
          </a:xfrm>
          <a:prstGeom prst="roundRect">
            <a:avLst>
              <a:gd name="adj" fmla="val 22535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8200" y="6791325"/>
            <a:ext cx="10515600" cy="257175"/>
          </a:xfrm>
          <a:prstGeom prst="rect">
            <a:avLst/>
          </a:prstGeom>
          <a:solidFill>
            <a:srgbClr val="1E4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200" y="7381875"/>
            <a:ext cx="10515600" cy="257175"/>
          </a:xfrm>
          <a:prstGeom prst="rect">
            <a:avLst/>
          </a:prstGeom>
          <a:solidFill>
            <a:srgbClr val="1E4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386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6834187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7424737"/>
            <a:ext cx="19050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Silence in the Log Is Not Good News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19575"/>
            <a:ext cx="11582400" cy="2286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3333"/>
                </a:solidFill>
                <a:latin typeface="Inter"/>
              </a:rPr>
              <a:t>On a healthy machine these return nothing — and "no failed actions on , checked " is a correct record. Write it 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8391525"/>
            <a:ext cx="108394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Two kinds of failure never say the word "failed". The tool tells a STORY, the log is the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552575"/>
            <a:ext cx="10610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0E0E0"/>
                </a:solidFill>
                <a:latin typeface="Fira Code"/>
              </a:rPr>
              <a:t>Get-MpThreatDetection | Where-Object { -not $_.ActionSuccess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1275"/>
            <a:ext cx="10610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0E0E0"/>
                </a:solidFill>
                <a:latin typeface="Fira Code"/>
              </a:rPr>
              <a:t>Get-WinEvent ... | Where-Object { $_.Id -in 1118, 1119, 1002, 2001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6975" y="4791075"/>
            <a:ext cx="12477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FFFFFF"/>
                </a:solidFill>
                <a:latin typeface="Inter"/>
              </a:rPr>
              <a:t>Log Fragments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686425"/>
            <a:ext cx="106108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0E0E0"/>
                </a:solidFill>
                <a:latin typeface="Fira Code"/>
              </a:rPr>
              <a:t>1118 Action: Quarantine FAILED — file is in use &lt;- action failed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791325"/>
            <a:ext cx="7072312" cy="66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Fira Code"/>
              </a:rPr>
              <a:t>1116 Detected ... (nothing follows) &lt;- no action taken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7381875"/>
            <a:ext cx="10084593" cy="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FFFFF"/>
                </a:solidFill>
                <a:latin typeface="Fira Code"/>
              </a:rPr>
              <a:t>1002 Scan stopped before completion — user cancelled &lt;- scan did not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334000"/>
            <a:ext cx="57150" cy="6477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271712"/>
            <a:ext cx="219447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04070" y="2271712"/>
            <a:ext cx="38403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44431" y="2271712"/>
            <a:ext cx="4937968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86087"/>
            <a:ext cx="219447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04070" y="2986087"/>
            <a:ext cx="38403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4431" y="2986087"/>
            <a:ext cx="4937968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605212"/>
            <a:ext cx="219447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4070" y="3605212"/>
            <a:ext cx="38403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44431" y="3605212"/>
            <a:ext cx="4937968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224337"/>
            <a:ext cx="219447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4070" y="4224337"/>
            <a:ext cx="38403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44431" y="4224337"/>
            <a:ext cx="4937968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938712"/>
            <a:ext cx="219447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04070" y="4938712"/>
            <a:ext cx="38403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44431" y="4938712"/>
            <a:ext cx="4937968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200" y="1771650"/>
            <a:ext cx="173727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" y="2486025"/>
            <a:ext cx="173727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200" y="3152775"/>
            <a:ext cx="1737270" cy="304800"/>
          </a:xfrm>
          <a:prstGeom prst="roundRect">
            <a:avLst>
              <a:gd name="adj" fmla="val 1250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" y="3771900"/>
            <a:ext cx="1737270" cy="304800"/>
          </a:xfrm>
          <a:prstGeom prst="roundRect">
            <a:avLst>
              <a:gd name="adj" fmla="val 12500"/>
            </a:avLst>
          </a:prstGeom>
          <a:solidFill>
            <a:srgbClr val="009688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8200" y="4438650"/>
            <a:ext cx="173727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600" y="1066800"/>
          <a:ext cx="10972798" cy="3886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4470"/>
                <a:gridCol w="3840360"/>
                <a:gridCol w="4937968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nter"/>
                        </a:rPr>
                        <a:t>Kind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nter"/>
                        </a:rPr>
                        <a:t>Where you see 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nter"/>
                        </a:rPr>
                        <a:t>Next step per SOP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Event 1118 / 1119; ThreatStatusID 102-107; ActionSuccess False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53935"/>
                          </a:solidFill>
                          <a:latin typeface="Inter"/>
                        </a:rPr>
                        <a:t>Threat</a:t>
                      </a:r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 -&gt; re-open ticket -&gt; escalate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1117 + "Restart required"; history says "remediation incomplete"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Get restart done -&gt; verify after (three proofs)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1116 with nothing after it; ThreatStatusID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53935"/>
                          </a:solidFill>
                          <a:latin typeface="Inter"/>
                        </a:rPr>
                        <a:t>Threat</a:t>
                      </a:r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 -&gt; scan now -&gt; escalate if it stays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Event 1002; no finish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Does not count -&gt; re-run -&gt; ask who cancelled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A new 1116 for same thing after a good 1117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Offline scan -&gt; if again, recommend </a:t>
                      </a:r>
                      <a:r>
                        <a:rPr b="1" sz="1350" i="0" u="none">
                          <a:solidFill>
                            <a:srgbClr val="333333"/>
                          </a:solidFill>
                          <a:latin typeface="Inter"/>
                        </a:rPr>
                        <a:t>RE-IMAGE</a:t>
                      </a:r>
                      <a:r>
                        <a:rPr b="0" sz="1350" i="0" u="none">
                          <a:solidFill>
                            <a:srgbClr val="333333"/>
                          </a:solidFill>
                          <a:latin typeface="Inter"/>
                        </a:rPr>
                        <a:t> -&gt; escalate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Five Kinds — the Kind Decides the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33400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Also found in the same pass: the TOOL failing — event 2001 repeated (update failing). That goes to the vendor.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241" y="1809750"/>
            <a:ext cx="2019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1. Action 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241" y="2524125"/>
            <a:ext cx="2019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2. Action incomplete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241" y="3190875"/>
            <a:ext cx="2019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3. No action taken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41" y="3810000"/>
            <a:ext cx="2019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4. Scan incomplete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241" y="4476750"/>
            <a:ext cx="20191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5. Threat came 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794521"/>
            <a:ext cx="10972800" cy="16764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928121"/>
            <a:ext cx="57150" cy="3238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06680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0900" y="106680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06680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500" y="106680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27826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900" y="227826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27826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3500" y="2278260"/>
            <a:ext cx="2628900" cy="1059060"/>
          </a:xfrm>
          <a:prstGeom prst="roundRect">
            <a:avLst>
              <a:gd name="adj" fmla="val 7195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200" y="402312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8200" y="448032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8200" y="4937521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592460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92460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1592460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1592460"/>
            <a:ext cx="2667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2803921"/>
            <a:ext cx="2667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03921"/>
            <a:ext cx="2667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2803921"/>
            <a:ext cx="2667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600" y="2803921"/>
            <a:ext cx="2667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Activity 2 — Eight Entries, Name the Kind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928121"/>
            <a:ext cx="113538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Read forward in time. The first 1117 can look fine — and then it comes 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8994" y="1295400"/>
            <a:ext cx="890111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5295" y="1295400"/>
            <a:ext cx="880110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1594" y="1295400"/>
            <a:ext cx="890111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2894" y="1295400"/>
            <a:ext cx="890111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8995" y="2506860"/>
            <a:ext cx="870108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5296" y="2506860"/>
            <a:ext cx="860107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1594" y="2506860"/>
            <a:ext cx="890111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94" y="2506860"/>
            <a:ext cx="890111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Entry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325" y="4023121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5400" y="4023121"/>
            <a:ext cx="5036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In your team, read the eight log entries A-H.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" y="4480321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5400" y="4480321"/>
            <a:ext cx="9108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Success or failure? If failure — which of the five kinds, and the SOP's next step.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325" y="4937521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5400" y="4937521"/>
            <a:ext cx="8453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Two are successes. One is the tool failing. One entry is two kinds at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1676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416498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52800" y="3416498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3416498"/>
            <a:ext cx="54864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21323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52800" y="3921323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3921323"/>
            <a:ext cx="54864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4426148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2800" y="4426148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0" y="4426148"/>
            <a:ext cx="54864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121473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2800" y="5121473"/>
            <a:ext cx="27432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5121473"/>
            <a:ext cx="54864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066800"/>
            <a:ext cx="5715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1066800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751" y="1066800"/>
            <a:ext cx="5715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8627" y="1066800"/>
            <a:ext cx="514350" cy="45720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2240160"/>
          <a:ext cx="10972800" cy="2895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3200"/>
                <a:gridCol w="2743200"/>
                <a:gridCol w="54864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Authority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They own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FFFFFF"/>
                          </a:solidFill>
                          <a:latin typeface="Inter"/>
                        </a:rPr>
                        <a:t>Send them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3333"/>
                          </a:solidFill>
                          <a:latin typeface="Inter"/>
                        </a:rPr>
                        <a:t>IT department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Machines, network, change calendar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Isolate a host, restart, re-image, patch OS, force user restart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3333"/>
                          </a:solidFill>
                          <a:latin typeface="Inter"/>
                        </a:rPr>
                        <a:t>Info Security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The security decision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Threat not contained, sign of spread, decision above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3333"/>
                          </a:solidFill>
                          <a:latin typeface="Inter"/>
                        </a:rPr>
                        <a:t>Security solution / vendor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The 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Updates failing, engine faults, suspected </a:t>
                      </a:r>
                      <a:r>
                        <a:rPr b="1" sz="1275" i="0" u="none">
                          <a:solidFill>
                            <a:srgbClr val="333333"/>
                          </a:solidFill>
                          <a:latin typeface="Inter"/>
                        </a:rPr>
                        <a:t>FALSE POSITIVE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3333"/>
                          </a:solidFill>
                          <a:latin typeface="Inter"/>
                        </a:rPr>
                        <a:t>CISO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The business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3333"/>
                          </a:solidFill>
                          <a:latin typeface="Inter"/>
                        </a:rPr>
                        <a:t>CRITICAL only (ransomware, data leaving). 1 paragraph, &lt; 10 min.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Four Authorities — Pick the One Who Can DO the 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16760"/>
            <a:ext cx="108394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Three habits: First stop is shift lead. One primary authority, copy the rest. Critical goes up fast.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806" y="1600200"/>
            <a:ext cx="1500187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IT Dept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107" y="1600200"/>
            <a:ext cx="1500187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InfoSec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2407" y="1600200"/>
            <a:ext cx="1500187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Vendor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5708" y="1600200"/>
            <a:ext cx="1500187" cy="182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b="1" sz="1200" i="0" u="none">
                <a:solidFill>
                  <a:srgbClr val="1A1A1A"/>
                </a:solidFill>
                <a:latin typeface="Inter"/>
              </a:rPr>
              <a:t>CISO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8350"/>
            <a:ext cx="57150" cy="5524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066800"/>
            <a:ext cx="10972800" cy="1066800"/>
          </a:xfrm>
          <a:prstGeom prst="roundRect">
            <a:avLst>
              <a:gd name="adj" fmla="val 714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86000"/>
            <a:ext cx="10972800" cy="1066800"/>
          </a:xfrm>
          <a:prstGeom prst="roundRect">
            <a:avLst>
              <a:gd name="adj" fmla="val 7142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505200"/>
            <a:ext cx="10972800" cy="1257300"/>
          </a:xfrm>
          <a:prstGeom prst="roundRect">
            <a:avLst>
              <a:gd name="adj" fmla="val 606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066800"/>
            <a:ext cx="57150" cy="10668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2550" y="1295400"/>
            <a:ext cx="2381250" cy="609600"/>
          </a:xfrm>
          <a:prstGeom prst="roundRect">
            <a:avLst>
              <a:gd name="adj" fmla="val 625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286000"/>
            <a:ext cx="57150" cy="1066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72550" y="2514600"/>
            <a:ext cx="2381250" cy="609600"/>
          </a:xfrm>
          <a:prstGeom prst="roundRect">
            <a:avLst>
              <a:gd name="adj" fmla="val 625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505200"/>
            <a:ext cx="57150" cy="12573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2550" y="3733800"/>
            <a:ext cx="2381250" cy="800100"/>
          </a:xfrm>
          <a:prstGeom prst="roundRect">
            <a:avLst>
              <a:gd name="adj" fmla="val 4761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5" y="1485900"/>
            <a:ext cx="6572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25" y="2705100"/>
            <a:ext cx="6572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25" y="4019550"/>
            <a:ext cx="6572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Who Gets These? (Three Situations Worked)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848350"/>
            <a:ext cx="10839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Uncontained -&gt; security manager. Machine action -&gt; IT manager. Tool broken -&gt; vendor. Business on fire -&gt; CISO.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9193" y="1409700"/>
            <a:ext cx="27479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A1A1A"/>
                </a:solidFill>
                <a:latin typeface="Inter"/>
              </a:rPr>
              <a:t>INFO SEC MANAGER</a:t>
            </a:r>
            <a:r>
              <a:t>
</a:t>
            </a:r>
            <a:r>
              <a:rPr b="1" sz="1050" i="0" u="none">
                <a:solidFill>
                  <a:srgbClr val="1A1A1A"/>
                </a:solidFill>
                <a:latin typeface="Inter"/>
              </a:rPr>
              <a:t>(Copy IT Manager to isolate)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9193" y="2628900"/>
            <a:ext cx="27479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A1A1A"/>
                </a:solidFill>
                <a:latin typeface="Inter"/>
              </a:rPr>
              <a:t>SECURITY VENDOR</a:t>
            </a:r>
            <a:r>
              <a:t>
</a:t>
            </a:r>
            <a:r>
              <a:rPr b="1" sz="1050" i="0" u="none">
                <a:solidFill>
                  <a:srgbClr val="1A1A1A"/>
                </a:solidFill>
                <a:latin typeface="Inter"/>
              </a:rPr>
              <a:t>(Copy Info Sec. Do NOT restore.)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9193" y="3848100"/>
            <a:ext cx="27479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A1A1A"/>
                </a:solidFill>
                <a:latin typeface="Inter"/>
              </a:rPr>
              <a:t>CISO (within 10 min)</a:t>
            </a:r>
            <a:r>
              <a:t>
</a:t>
            </a:r>
            <a:r>
              <a:rPr b="1" sz="1050" i="0" u="none">
                <a:solidFill>
                  <a:srgbClr val="1A1A1A"/>
                </a:solidFill>
                <a:latin typeface="Inter"/>
              </a:rPr>
              <a:t>(via Security Manager. IT isolates.)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1371600"/>
            <a:ext cx="94386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1B3A5C"/>
                </a:solidFill>
                <a:latin typeface="Inter"/>
              </a:rPr>
              <a:t>1. SRV-BAK-02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1638300"/>
            <a:ext cx="8989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44444"/>
                </a:solidFill>
                <a:latin typeface="Inter"/>
              </a:rPr>
              <a:t>Quarantine failed twice, process restarts itself, scan says still there.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2590800"/>
            <a:ext cx="94386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1B3A5C"/>
                </a:solidFill>
                <a:latin typeface="Inter"/>
              </a:rPr>
              <a:t>2. payroll_calc.xlsm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2857500"/>
            <a:ext cx="8989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44444"/>
                </a:solidFill>
                <a:latin typeface="Inter"/>
              </a:rPr>
              <a:t>Macro quarantined; safely used for two years; payroll tomorrow. (False Positive)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3905250"/>
            <a:ext cx="943867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500" i="0" u="none">
                <a:solidFill>
                  <a:srgbClr val="1B3A5C"/>
                </a:solidFill>
                <a:latin typeface="Inter"/>
              </a:rPr>
              <a:t>3. SRV-FIN-02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4171950"/>
            <a:ext cx="89892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44444"/>
                </a:solidFill>
                <a:latin typeface="Inter"/>
              </a:rPr>
              <a:t>Files renaming to .locked right now, spreading, Finance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10972800" cy="99060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190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24175"/>
            <a:ext cx="10972800" cy="2286000"/>
          </a:xfrm>
          <a:prstGeom prst="roundRect">
            <a:avLst>
              <a:gd name="adj" fmla="val 3333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43575"/>
            <a:ext cx="57150" cy="3238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2289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6861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1433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46005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393" y="164782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393" y="164782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968" y="1647825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718" y="1647825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Activity 3 — Eight Situations, One Primary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743575"/>
            <a:ext cx="113538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The reason is what is marked. Match the need to the owner.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9268" y="1647825"/>
            <a:ext cx="781050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ctr"/>
            <a:r>
              <a:t>
</a:t>
            </a:r>
            <a:r>
              <a:rPr b="1" sz="2400" i="0" u="none">
                <a:solidFill>
                  <a:srgbClr val="1B3A5C"/>
                </a:solidFill>
                <a:latin typeface="Inter"/>
              </a:rPr>
              <a:t>IT Mgr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356" y="1647825"/>
            <a:ext cx="904875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ctr"/>
            <a:r>
              <a:t>
</a:t>
            </a:r>
            <a:r>
              <a:rPr b="1" sz="2400" i="0" u="none">
                <a:solidFill>
                  <a:srgbClr val="009688"/>
                </a:solidFill>
                <a:latin typeface="Inter"/>
              </a:rPr>
              <a:t>Sec Mgr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3268" y="1647825"/>
            <a:ext cx="838200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ctr"/>
            <a:r>
              <a:t>
</a:t>
            </a:r>
            <a:r>
              <a:rPr b="1" sz="2400" i="0" u="none">
                <a:solidFill>
                  <a:srgbClr val="2E75B6"/>
                </a:solidFill>
                <a:latin typeface="Inter"/>
              </a:rPr>
              <a:t>Vendor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506" y="1647825"/>
            <a:ext cx="657225" cy="4953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ctr"/>
            <a:r>
              <a:t>
</a:t>
            </a:r>
            <a:r>
              <a:rPr b="1" sz="2400" i="0" u="none">
                <a:solidFill>
                  <a:srgbClr val="E53935"/>
                </a:solidFill>
                <a:latin typeface="Inter"/>
              </a:rPr>
              <a:t>CISO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2289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28975"/>
            <a:ext cx="6357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In your team, read the eight situations on your handout.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6861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86175"/>
            <a:ext cx="762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For each: identify the PRIMARY authority, who is copied, and WHY.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41433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43375"/>
            <a:ext cx="60602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What does that person own that you need right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525" y="460057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00575"/>
            <a:ext cx="9310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Three were worked with you. Do all eight; three become full packs this afternoon.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210300"/>
            <a:ext cx="57150" cy="3238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10400" y="1066800"/>
            <a:ext cx="4572000" cy="4914900"/>
          </a:xfrm>
          <a:prstGeom prst="roundRect">
            <a:avLst>
              <a:gd name="adj" fmla="val 25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0668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38550" y="10668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9050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8550" y="19050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7432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E0F2F1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8550" y="27432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35814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8550" y="35814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44196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E0F2F1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8550" y="44196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52578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8550" y="5257800"/>
            <a:ext cx="2914650" cy="723900"/>
          </a:xfrm>
          <a:prstGeom prst="roundRect">
            <a:avLst>
              <a:gd name="adj" fmla="val 10526"/>
            </a:avLst>
          </a:prstGeom>
          <a:solidFill>
            <a:srgbClr val="E0F2F1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945308"/>
            <a:ext cx="1143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478708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12108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45508"/>
            <a:ext cx="1143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Twelve Fields — Three Decide Whether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6210300"/>
            <a:ext cx="113538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Build the pack with evidence, an ask, and a deadline.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331392"/>
            <a:ext cx="4876800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009688"/>
                </a:solidFill>
                <a:latin typeface="Inter"/>
              </a:rPr>
              <a:t>The Three Pillars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26258"/>
            <a:ext cx="4876800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No evidence = an opinion.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59658"/>
            <a:ext cx="4876800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No ask = a diary entry.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93058"/>
            <a:ext cx="4876800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No deadline = it waits.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526458"/>
            <a:ext cx="4876800" cy="19050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No ticket update = no trail.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11811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1.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To + WHY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2850" y="11811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2.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From / date / ticket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20193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3.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One-line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2850" y="20193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4.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What was 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28575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5. WHAT EVIDENCE SHOWS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2850" y="28575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6.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What tried / failed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900" y="36957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7.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Contained? SLA clock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2850" y="36957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8.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900" y="45339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9. WHAT I NEED (DEADLINE)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52850" y="45339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10.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53721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11.</a:t>
            </a:r>
            <a:r>
              <a:rPr b="0" sz="1200" i="0" u="none">
                <a:solidFill>
                  <a:srgbClr val="1A1A1A"/>
                </a:solidFill>
                <a:latin typeface="Inter"/>
              </a:rPr>
              <a:t> Attachments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52850" y="5372100"/>
            <a:ext cx="27813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A1A"/>
                </a:solidFill>
                <a:latin typeface="Inter"/>
              </a:rPr>
              <a:t>12. ESCALATION LOGGED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57150" cy="3238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066800"/>
            <a:ext cx="5257800" cy="4324350"/>
          </a:xfrm>
          <a:prstGeom prst="roundRect">
            <a:avLst>
              <a:gd name="adj" fmla="val 1762"/>
            </a:avLst>
          </a:prstGeom>
          <a:solidFill>
            <a:srgbClr val="F8F9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1066800"/>
            <a:ext cx="5257800" cy="4324350"/>
          </a:xfrm>
          <a:prstGeom prst="roundRect">
            <a:avLst>
              <a:gd name="adj" fmla="val 1762"/>
            </a:avLst>
          </a:prstGeom>
          <a:solidFill>
            <a:srgbClr val="F8F9FA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67451" y="824076"/>
            <a:ext cx="1104571" cy="110457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725" y="4829175"/>
            <a:ext cx="47815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82451" y="824076"/>
            <a:ext cx="1104570" cy="110457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62725" y="4829175"/>
            <a:ext cx="4781550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304925"/>
            <a:ext cx="478155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304925"/>
            <a:ext cx="478155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Finding Failures Faster —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6076950"/>
            <a:ext cx="113538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Faster finding tools. Same five kinds of failure, same four authorities, same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8451" y="862176"/>
            <a:ext cx="437821" cy="102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1952625"/>
            <a:ext cx="6275784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HAYABUSA +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280791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Inter"/>
              </a:rPr>
              <a:t>One command turns the whole event log into a spreadsheet timeline. Every failed action flagged.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981575"/>
            <a:ext cx="4876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66666"/>
                </a:solidFill>
                <a:latin typeface="Inter"/>
              </a:rPr>
              <a:t>Coming with the on-site lab.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3451" y="862176"/>
            <a:ext cx="437820" cy="102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1952625"/>
            <a:ext cx="5629275" cy="2138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4"/>
              </a:lnSpc>
            </a:pPr>
            <a:r>
              <a:rPr b="1" sz="1404" i="0" u="none">
                <a:solidFill>
                  <a:srgbClr val="1B3A5C"/>
                </a:solidFill>
                <a:latin typeface="Inter"/>
              </a:rPr>
              <a:t>WAZUH (SIEM)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280791"/>
            <a:ext cx="4876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555"/>
                </a:solidFill>
                <a:latin typeface="Inter"/>
              </a:rPr>
              <a:t>Once our server is built, search every machine's 1118s in one query, with host names side-by-side.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981575"/>
            <a:ext cx="4876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66666"/>
                </a:solidFill>
                <a:latin typeface="Inter"/>
              </a:rPr>
              <a:t>Enterprise log aggregation.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76950"/>
            <a:ext cx="57150" cy="3238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76950" y="1066800"/>
            <a:ext cx="5505450" cy="4781550"/>
          </a:xfrm>
          <a:prstGeom prst="roundRect">
            <a:avLst>
              <a:gd name="adj" fmla="val 1593"/>
            </a:avLst>
          </a:prstGeom>
          <a:solidFill>
            <a:srgbClr val="F8F9FA"/>
          </a:solidFill>
          <a:ln w="190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971550"/>
            <a:ext cx="1628775" cy="238125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1657350"/>
            <a:ext cx="501015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2276475"/>
            <a:ext cx="501015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2628900"/>
            <a:ext cx="5010150" cy="43815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3676650"/>
            <a:ext cx="501015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4029075"/>
            <a:ext cx="5010150" cy="43815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10668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1524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9600" y="2743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1B3A5C"/>
                </a:solidFill>
                <a:latin typeface="Inter"/>
              </a:rPr>
              <a:t>Activity 4 — Start One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6076950"/>
            <a:ext cx="113538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B3A5C"/>
                </a:solidFill>
                <a:latin typeface="Inter"/>
              </a:rPr>
              <a:t>Verb, object, time. Not "please advise". Tell them what you need them to 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1009650"/>
            <a:ext cx="14192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ESCALATION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139065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66666"/>
                </a:solidFill>
                <a:latin typeface="Inter"/>
              </a:rPr>
              <a:t>To:</a:t>
            </a:r>
            <a:r>
              <a:rPr b="0" sz="1200" i="0" u="none">
                <a:solidFill>
                  <a:srgbClr val="666666"/>
                </a:solidFill>
                <a:latin typeface="Inter"/>
              </a:rPr>
              <a:t> ______________ </a:t>
            </a:r>
            <a:r>
              <a:rPr b="1" sz="1200" i="0" u="none">
                <a:solidFill>
                  <a:srgbClr val="666666"/>
                </a:solidFill>
                <a:latin typeface="Inter"/>
              </a:rPr>
              <a:t>Why:</a:t>
            </a:r>
            <a:r>
              <a:rPr b="0" sz="1200" i="0" u="none">
                <a:solidFill>
                  <a:srgbClr val="666666"/>
                </a:solidFill>
                <a:latin typeface="Inter"/>
              </a:rPr>
              <a:t> ______________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009775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66666"/>
                </a:solidFill>
                <a:latin typeface="Inter"/>
              </a:rPr>
              <a:t>Summary:</a:t>
            </a:r>
            <a:r>
              <a:rPr b="0" sz="1200" i="0" u="none">
                <a:solidFill>
                  <a:srgbClr val="666666"/>
                </a:solidFill>
                <a:latin typeface="Inter"/>
              </a:rPr>
              <a:t> _____________________________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2743200"/>
            <a:ext cx="4876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009688"/>
                </a:solidFill>
                <a:latin typeface="Inter"/>
              </a:rPr>
              <a:t>[ Evidence Log Lines Go Here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40995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66666"/>
                </a:solidFill>
                <a:latin typeface="Inter"/>
              </a:rPr>
              <a:t>Failed Kind:</a:t>
            </a:r>
            <a:r>
              <a:rPr b="0" sz="1200" i="0" u="none">
                <a:solidFill>
                  <a:srgbClr val="666666"/>
                </a:solidFill>
                <a:latin typeface="Inter"/>
              </a:rPr>
              <a:t> ___________________________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4143375"/>
            <a:ext cx="4876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1" u="none">
                <a:solidFill>
                  <a:srgbClr val="009688"/>
                </a:solidFill>
                <a:latin typeface="Inter"/>
              </a:rPr>
              <a:t>[ VERB, OBJECT, DEADLINE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" y="10668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1066800"/>
            <a:ext cx="1524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On your 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25" y="15240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6800" y="15240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Pick </a:t>
            </a:r>
            <a:r>
              <a:rPr b="1" sz="1500" i="0" u="none">
                <a:solidFill>
                  <a:srgbClr val="1A1A1A"/>
                </a:solidFill>
                <a:latin typeface="Inter"/>
              </a:rPr>
              <a:t>Situation 2</a:t>
            </a:r>
            <a:r>
              <a:rPr b="0" sz="1500" i="0" u="none">
                <a:solidFill>
                  <a:srgbClr val="1A1A1A"/>
                </a:solidFill>
                <a:latin typeface="Inter"/>
              </a:rPr>
              <a:t> (updates failing on 40 PCs) OR </a:t>
            </a:r>
            <a:r>
              <a:rPr b="1" sz="1500" i="0" u="none">
                <a:solidFill>
                  <a:srgbClr val="1A1A1A"/>
                </a:solidFill>
                <a:latin typeface="Inter"/>
              </a:rPr>
              <a:t>Situation 5</a:t>
            </a:r>
            <a:r>
              <a:rPr b="0" sz="1500" i="0" u="none">
                <a:solidFill>
                  <a:srgbClr val="1A1A1A"/>
                </a:solidFill>
                <a:latin typeface="Inter"/>
              </a:rPr>
              <a:t> (live ransomware).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21336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800" y="2133600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Fill fields 1-3, 5, 6 and 9 now: who/why, summary, evidence lines, failure kind, ask with deadline.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274320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6800" y="2743200"/>
            <a:ext cx="3369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A1A1A"/>
                </a:solidFill>
                <a:latin typeface="Inter"/>
              </a:rPr>
              <a:t>Finish the rest this afternoon.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5556" y="5838825"/>
            <a:ext cx="1416843" cy="476250"/>
          </a:xfrm>
          <a:prstGeom prst="roundRect">
            <a:avLst>
              <a:gd name="adj" fmla="val 4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53100"/>
            <a:ext cx="57150" cy="647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166937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6760" y="2166937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90470" y="2166937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36360" y="2166937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71762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6760" y="2671762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90470" y="2671762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36360" y="2671762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3176587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06760" y="3176587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90470" y="3176587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36360" y="3176587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681412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06760" y="3681412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90470" y="3681412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36360" y="3681412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186237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06760" y="4186237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90470" y="4186237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36360" y="4186237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4691062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06760" y="4691062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0470" y="4691062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6360" y="4691062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5195887"/>
            <a:ext cx="109716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06760" y="5195887"/>
            <a:ext cx="658370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90470" y="5195887"/>
            <a:ext cx="164589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36360" y="5195887"/>
            <a:ext cx="1646039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9600" y="1143000"/>
            <a:ext cx="10972800" cy="40671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09600" y="1143000"/>
          <a:ext cx="10972798" cy="40671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97160"/>
                <a:gridCol w="6583709"/>
                <a:gridCol w="1645890"/>
                <a:gridCol w="1646039"/>
              </a:tblGrid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#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Task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Inter"/>
                        </a:rPr>
                        <a:t>Hand 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Client verification records — call notes + written confirmation V1 &amp; V2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25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2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Failed-action extract — name 8 entries + pass on own machine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30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Extracts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Three escalation packs — Situations 1, 2 and 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45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3 packs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Escalation trail — update the three register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3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The failed-action SOP card — five kinds, where seen, next 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 card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8396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Self-check one pack against your Day 3 QA checklist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 QA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9FA"/>
                    </a:solidFill>
                  </a:tcPr>
                </a:tc>
              </a:tr>
              <a:tr h="508403"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333333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Reflection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10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3333"/>
                          </a:solidFill>
                          <a:latin typeface="Inter"/>
                        </a:rPr>
                        <a:t>3 answers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09600" y="533400"/>
            <a:ext cx="1158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FFFFFF"/>
                </a:solidFill>
                <a:latin typeface="Inter"/>
              </a:rPr>
              <a:t>This Afternoon — On Your Own, 1:00 to 4:00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5753100"/>
            <a:ext cx="9422606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Inter"/>
              </a:rPr>
              <a:t>Today you closed the loop. Next, Day 10: the threat report. Bring every Day 6-9 artefact.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7956" y="5915025"/>
            <a:ext cx="120729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Day 9 of 15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
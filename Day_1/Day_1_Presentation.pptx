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40480" y="548640"/>
            <a:ext cx="1463040" cy="14630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/>
            </a:pPr>
            <a:r>
              <a:rPr b="1" sz="2200">
                <a:solidFill>
                  <a:srgbClr val="FFFFFF"/>
                </a:solidFill>
                <a:latin typeface="Calibri"/>
              </a:rPr>
              <a:t>DAY
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/>
            </a:pPr>
            <a:r>
              <a:rPr b="1" sz="3400">
                <a:solidFill>
                  <a:srgbClr val="FFFFFF"/>
                </a:solidFill>
                <a:latin typeface="Calibri"/>
              </a:rPr>
              <a:t>Orientation and</a:t>
            </a:r>
          </a:p>
          <a:p>
            <a:pPr algn="ctr">
              <a:defRPr sz="3400"/>
            </a:pPr>
            <a:r>
              <a:rPr b="1" sz="3400">
                <a:solidFill>
                  <a:srgbClr val="FFFFFF"/>
                </a:solidFill>
                <a:latin typeface="Calibri"/>
              </a:rPr>
              <a:t>the Watch-Desk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/>
            </a:pPr>
            <a:r>
              <a:rPr b="0" sz="1600">
                <a:solidFill>
                  <a:srgbClr val="BBCCDD"/>
                </a:solidFill>
                <a:latin typeface="Calibri"/>
              </a:rPr>
              <a:t>ONLINE SYNCHRONOUS 8:00–12:00  |  ASYNCHRONOUS 1:00–5:00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9144000" cy="36576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/>
            </a:pPr>
            <a:r>
              <a:rPr b="0" sz="1100">
                <a:solidFill>
                  <a:srgbClr val="88AACC"/>
                </a:solidFill>
                <a:latin typeface="Calibri"/>
              </a:rPr>
              <a:t>Cyber Threat Monitoring Level I</a:t>
            </a:r>
          </a:p>
          <a:p>
            <a:pPr algn="ctr">
              <a:defRPr sz="1100"/>
            </a:pPr>
            <a:r>
              <a:rPr b="0" sz="1100">
                <a:solidFill>
                  <a:srgbClr val="88AACC"/>
                </a:solidFill>
                <a:latin typeface="Calibri"/>
              </a:rPr>
              <a:t>TESDA Competency-Based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931920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rPr b="1" sz="1300">
                <a:solidFill>
                  <a:srgbClr val="FFFFFF"/>
                </a:solidFill>
                <a:latin typeface="Calibri"/>
              </a:rPr>
              <a:t>MORNING —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8:00 AM – 12:00 PM, live on this call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Taking down a spoken handover</a:t>
            </a: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Reading an instruction back</a:t>
            </a: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Running a shift huddle with your team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1" sz="1200">
                <a:solidFill>
                  <a:srgbClr val="333333"/>
                </a:solidFill>
                <a:latin typeface="Calibri"/>
              </a:rPr>
              <a:t>Why here:</a:t>
            </a:r>
            <a:r>
              <a:rPr b="0" sz="1200">
                <a:solidFill>
                  <a:srgbClr val="333333"/>
                </a:solidFill>
                <a:latin typeface="Calibri"/>
              </a:rPr>
              <a:t> an assessor has to SEE you do these. They do not work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931920" cy="45720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rPr b="1" sz="1300">
                <a:solidFill>
                  <a:srgbClr val="FFFFFF"/>
                </a:solidFill>
                <a:latin typeface="Calibri"/>
              </a:rPr>
              <a:t>AFTERNOON — ON YOUR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1:00 – 5:00 PM, wherever you work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Eight tasks, about 3 h 40 m</a:t>
            </a: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Marking up an SOP</a:t>
            </a: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Triaging written notices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1" sz="1200">
                <a:solidFill>
                  <a:srgbClr val="333333"/>
                </a:solidFill>
                <a:latin typeface="Calibri"/>
              </a:rPr>
              <a:t>Why here:</a:t>
            </a:r>
            <a:r>
              <a:rPr b="0" sz="1200">
                <a:solidFill>
                  <a:srgbClr val="333333"/>
                </a:solidFill>
                <a:latin typeface="Calibri"/>
              </a:rPr>
              <a:t> reading a procedure is solitary work in the real job too.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This Morning — Live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3915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8:00–8:15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Join, tech check, welcome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8:15–8:35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Programme orientation and how today runs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8:35–9:00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Icebreaker: the incident you already survived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9:00–9:15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Team formation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9:15–9:45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OSH induction · Home Workstation Audit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9:45–10:15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Inside a Security Operations Centre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10:15–10:25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Break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10:25–11:30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Follow routine spoken messages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3915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11:30–11:50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Work with others — the shift huddle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3916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11:50–12:00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Briefing for the afternoon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Ground Rules for the Live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333333"/>
                </a:solidFill>
                <a:latin typeface="Calibri"/>
              </a:rPr>
              <a:t>Cameras on for the drills</a:t>
            </a:r>
            <a:r>
              <a:rPr b="0" sz="1600">
                <a:solidFill>
                  <a:srgbClr val="333333"/>
                </a:solidFill>
                <a:latin typeface="Calibri"/>
              </a:rPr>
              <a:t> — not the lectures</a:t>
            </a:r>
          </a:p>
          <a:p>
            <a:pPr>
              <a:spcAft>
                <a:spcPts val="300"/>
              </a:spcAft>
              <a:defRPr sz="1400"/>
            </a:pPr>
            <a:r>
              <a:rPr b="0" sz="1400">
                <a:solidFill>
                  <a:srgbClr val="555555"/>
                </a:solidFill>
                <a:latin typeface="Calibri"/>
              </a:rPr>
              <a:t>     The read-back drill and the huddle are observed evidence.</a:t>
            </a: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333333"/>
                </a:solidFill>
                <a:latin typeface="Calibri"/>
              </a:rPr>
              <a:t>Mic muted unless speaking</a:t>
            </a:r>
            <a:r>
              <a:rPr b="0" sz="1600">
                <a:solidFill>
                  <a:srgbClr val="333333"/>
                </a:solidFill>
                <a:latin typeface="Calibri"/>
              </a:rPr>
              <a:t> — but unmute to ask, do not type it</a:t>
            </a: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333333"/>
                </a:solidFill>
                <a:latin typeface="Calibri"/>
              </a:rPr>
              <a:t>Say your name before you speak</a:t>
            </a:r>
          </a:p>
          <a:p>
            <a:pPr>
              <a:spcAft>
                <a:spcPts val="300"/>
              </a:spcAft>
              <a:defRPr sz="1400"/>
            </a:pPr>
            <a:r>
              <a:rPr b="0" sz="1400">
                <a:solidFill>
                  <a:srgbClr val="555555"/>
                </a:solidFill>
                <a:latin typeface="Calibri"/>
              </a:rPr>
              <a:t>     On a real incident bridge call nobody can see who is talking either.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600"/>
            </a:pPr>
            <a:r>
              <a:rPr b="0" sz="1600">
                <a:solidFill>
                  <a:srgbClr val="333333"/>
                </a:solidFill>
                <a:latin typeface="Calibri"/>
              </a:rPr>
              <a:t>This session is recorded. The drills are your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Units Covered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3291840"/>
              </a:tblGrid>
              <a:tr h="35112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Unit of Competency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Elements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400311101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Receive and respond to workplace communication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LO1 spoken messages — this morning, live
LO2 written notices — this afternoon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400311102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Work with others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LO1 relationships
LO2 group activities
Both this morning, live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400311107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Follow OSH policies and procedures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Induction — Home Workstation Audit today
Lab checklist on site · full unit Day 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400311108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Apply environmental work standards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Induction — principles today
Lab pledge on site · full unit Day 3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Your Qualification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Cyber Threat Monitoring Level I — ICT Sector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Core Unit 1</a:t>
            </a:r>
            <a:r>
              <a:rPr b="0" sz="1500">
                <a:solidFill>
                  <a:srgbClr val="333333"/>
                </a:solidFill>
                <a:latin typeface="Calibri"/>
              </a:rPr>
              <a:t>  </a:t>
            </a:r>
            <a:r>
              <a:rPr sz="1500">
                <a:solidFill>
                  <a:srgbClr val="333333"/>
                </a:solidFill>
                <a:latin typeface="Consolas"/>
              </a:rPr>
              <a:t>CS-ICT251101</a:t>
            </a:r>
            <a:r>
              <a:rPr b="0" sz="1500">
                <a:solidFill>
                  <a:srgbClr val="333333"/>
                </a:solidFill>
                <a:latin typeface="Calibri"/>
              </a:rPr>
              <a:t>  Monitor and report cyber threats</a:t>
            </a: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Core Unit 2</a:t>
            </a:r>
            <a:r>
              <a:rPr b="0" sz="1500">
                <a:solidFill>
                  <a:srgbClr val="333333"/>
                </a:solidFill>
                <a:latin typeface="Calibri"/>
              </a:rPr>
              <a:t>  </a:t>
            </a:r>
            <a:r>
              <a:rPr sz="1500">
                <a:solidFill>
                  <a:srgbClr val="333333"/>
                </a:solidFill>
                <a:latin typeface="Consolas"/>
              </a:rPr>
              <a:t>CS-ICT251102</a:t>
            </a:r>
            <a:r>
              <a:rPr b="0" sz="1500">
                <a:solidFill>
                  <a:srgbClr val="333333"/>
                </a:solidFill>
                <a:latin typeface="Calibri"/>
              </a:rPr>
              <a:t>  Conduct vulnerability scanning of assets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Plus 9 basic competencies and 2 common competencies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You will be qualified to work as: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Cybersecurity Analyst (Level 1)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Cybersecurity Support Staff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Cybersecurity Help Desk Staff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Competency-Based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931920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rPr b="1" sz="1300">
                <a:solidFill>
                  <a:srgbClr val="FFFFFF"/>
                </a:solidFill>
                <a:latin typeface="Calibri"/>
              </a:rPr>
              <a:t>C — Competent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You demonstrated the skill to the standard, consistently</a:t>
            </a:r>
          </a:p>
          <a:p>
            <a:pPr>
              <a:spcAft>
                <a:spcPts val="700"/>
              </a:spcAft>
              <a:defRPr sz="1300"/>
            </a:pPr>
          </a:p>
          <a:p>
            <a:pPr>
              <a:spcAft>
                <a:spcPts val="700"/>
              </a:spcAft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There is no score and no curve</a:t>
            </a:r>
          </a:p>
          <a:p>
            <a:pPr>
              <a:spcAft>
                <a:spcPts val="700"/>
              </a:spcAft>
              <a:defRPr sz="1300"/>
            </a:pPr>
          </a:p>
          <a:p>
            <a:pPr>
              <a:spcAft>
                <a:spcPts val="700"/>
              </a:spcAft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Everyone in this room can finish Competent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931920" cy="45720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rPr b="1" sz="1300">
                <a:solidFill>
                  <a:srgbClr val="FFFFFF"/>
                </a:solidFill>
                <a:latin typeface="Calibri"/>
              </a:rPr>
              <a:t>NYC — Not Yet Competent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You need more practice, and you try again</a:t>
            </a:r>
          </a:p>
          <a:p>
            <a:pPr>
              <a:spcAft>
                <a:spcPts val="700"/>
              </a:spcAft>
              <a:defRPr sz="1300"/>
            </a:pPr>
          </a:p>
          <a:p>
            <a:pPr>
              <a:spcAft>
                <a:spcPts val="700"/>
              </a:spcAft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This is normal and it is not a failure</a:t>
            </a:r>
          </a:p>
          <a:p>
            <a:pPr>
              <a:spcAft>
                <a:spcPts val="700"/>
              </a:spcAft>
              <a:defRPr sz="1300"/>
            </a:pPr>
          </a:p>
          <a:p>
            <a:pPr>
              <a:spcAft>
                <a:spcPts val="700"/>
              </a:spcAft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It is a statement about today, not about you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The Alert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61872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25295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SENSORS — AV, firewall, WAF, DLP, EDR, NDR. Each one sees a slice.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03911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02536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SIEM — collects everything the sensors say, correlates it, ranks it.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816352"/>
            <a:ext cx="502920" cy="50292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79776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ANALYST — you. The SIEM says 'interesting.' You decide if it is real.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593591"/>
            <a:ext cx="502920" cy="5029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57015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ACTION — a ticket, an escalation, a phone call to a client at 2 AM.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70831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34255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RECORD — what you did and why. Six months later this is the only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The Tiers — Where You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703320"/>
                <a:gridCol w="3291840"/>
              </a:tblGrid>
              <a:tr h="35112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they do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Typical response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L1 — YOU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Watch the queue, triage, verify, ticket, escalate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"This is real. Escalating."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Investigate what L1 escalated, scope the incident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"It spread to four machines."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Hunt for what nobody alerted on, lead major incidents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"This is a targeted campaign."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SOC Manager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Staffing, SLAs, client comms, containment decisions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"Who has the bridge call?"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The Shift Handover — Five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Open items</a:t>
            </a:r>
            <a:r>
              <a:rPr b="0" sz="1500">
                <a:solidFill>
                  <a:srgbClr val="333333"/>
                </a:solidFill>
                <a:latin typeface="Calibri"/>
              </a:rPr>
              <a:t>  — tickets still in progress, with ticket number and state</a:t>
            </a: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Escalated</a:t>
            </a:r>
            <a:r>
              <a:rPr b="0" sz="1500">
                <a:solidFill>
                  <a:srgbClr val="333333"/>
                </a:solidFill>
                <a:latin typeface="Calibri"/>
              </a:rPr>
              <a:t>  — what went to L2/L3, and who owns it now</a:t>
            </a: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Watch items</a:t>
            </a:r>
            <a:r>
              <a:rPr b="0" sz="1500">
                <a:solidFill>
                  <a:srgbClr val="333333"/>
                </a:solidFill>
                <a:latin typeface="Calibri"/>
              </a:rPr>
              <a:t>  — not yet incidents, but they need eyes</a:t>
            </a: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System status</a:t>
            </a:r>
            <a:r>
              <a:rPr b="0" sz="1500">
                <a:solidFill>
                  <a:srgbClr val="333333"/>
                </a:solidFill>
                <a:latin typeface="Calibri"/>
              </a:rPr>
              <a:t>  — anything down, degraded, or in maintenance</a:t>
            </a: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Client notes</a:t>
            </a:r>
            <a:r>
              <a:rPr b="0" sz="1500">
                <a:solidFill>
                  <a:srgbClr val="333333"/>
                </a:solidFill>
                <a:latin typeface="Calibri"/>
              </a:rPr>
              <a:t>  — anything a client asked for or complained about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The handover is the highest-risk moment in a SOC.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It is where information gets dropped — so it gets written down, and read 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The Read-Back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Repeat the instruction in your own words before you act on it.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"So you want me to isolate WKS-042 — not WKS-024 — and notify the IT manager. Confirming."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A good read-back contains three things: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The identifier, said back exactly — hostname, IP, ticket number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The action you are being asked to take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The notification — who you will tell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It takes four seconds. Pilots do it. Nurses do it. Analysts should do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When to Stop and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Three situations mean stop and seek clarification: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You do not understand the instruction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The instruction contradicts the SOP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Acting on it would exceed your authority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Four questions you always have available: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"Can you repeat the hostname / IP / ticket number?"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"Now, or after I finish the current ticket?"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"That is above my authority — escalate, or are you authorising it?"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"The SOP says X and you are asking for Y. Which do I follow?"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Asking is not weakness. Not asking is the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The Shift Huddle — 4 Minutes, On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61872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25295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/>
            </a:pPr>
            <a:r>
              <a:rPr b="0" sz="1400">
                <a:solidFill>
                  <a:srgbClr val="333333"/>
                </a:solidFill>
                <a:latin typeface="Calibri"/>
              </a:rPr>
              <a:t>Shift Lead opens and states the priorities for the shift.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03911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02536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/>
            </a:pPr>
            <a:r>
              <a:rPr b="0" sz="1400">
                <a:solidFill>
                  <a:srgbClr val="333333"/>
                </a:solidFill>
                <a:latin typeface="Calibri"/>
              </a:rPr>
              <a:t>Each member reports their open items — one sentence each.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816352"/>
            <a:ext cx="502920" cy="50292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79776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/>
            </a:pPr>
            <a:r>
              <a:rPr b="0" sz="1400">
                <a:solidFill>
                  <a:srgbClr val="333333"/>
                </a:solidFill>
                <a:latin typeface="Calibri"/>
              </a:rPr>
              <a:t>The team agrees who picks up the watch item, by name.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593591"/>
            <a:ext cx="502920" cy="5029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57015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/>
            </a:pPr>
            <a:r>
              <a:rPr b="0" sz="1400">
                <a:solidFill>
                  <a:srgbClr val="333333"/>
                </a:solidFill>
                <a:latin typeface="Calibri"/>
              </a:rPr>
              <a:t>Shift Lead closes with the single thing that cannot slip tonight.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70831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34255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/>
            </a:pPr>
            <a:r>
              <a:rPr b="0" sz="1400">
                <a:solidFill>
                  <a:srgbClr val="333333"/>
                </a:solidFill>
                <a:latin typeface="Calibri"/>
              </a:rPr>
              <a:t>In an office everyone stands, and that is what keeps it short. On a call, the timer does that job — and everyone speaks, every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Lab Rules — and Your Desk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No scanning, probing, or testing anything outside the lab network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This applies from Day 1 to Day 15 — and after you graduate.</a:t>
            </a:r>
          </a:p>
          <a:p>
            <a:pPr>
              <a:spcAft>
                <a:spcPts val="700"/>
              </a:spcAft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No live malware on any machine, ever</a:t>
            </a:r>
          </a:p>
          <a:p>
            <a:pPr>
              <a:spcAft>
                <a:spcPts val="700"/>
              </a:spcAft>
              <a:defRPr sz="1500"/>
            </a:pPr>
            <a:r>
              <a:rPr b="0" sz="1500">
                <a:solidFill>
                  <a:srgbClr val="333333"/>
                </a:solidFill>
                <a:latin typeface="Calibri"/>
              </a:rPr>
              <a:t>Lock your screen when you step away (Win+L)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In the lab, from our first day on site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No food or drinks at the workstations · no unapproved software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600"/>
            </a:pPr>
            <a:r>
              <a:rPr b="1" sz="1600">
                <a:solidFill>
                  <a:srgbClr val="1B3A5C"/>
                </a:solidFill>
                <a:latin typeface="Calibri"/>
              </a:rPr>
              <a:t>Today your OSH evidence is the Home Workstation Audit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The Lab OSH Checklist and the Green Lab Pledge describe a room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This Afternoon — Asynchronous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840480"/>
                <a:gridCol w="1005840"/>
                <a:gridCol w="2834640"/>
              </a:tblGrid>
              <a:tr h="3413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Hand in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Take the pre-test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Submitted automatically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Set up your evidence folder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Screenshot of the folder tree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Write up this morning's handover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Shift Handover Log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Read the Day 1 Student Handout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— (Tasks 5, 6, 8 assume it)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Mark up the Alert Intake SOP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Worksheet + 4 answers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Triage three written notices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Grid + 3 answers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Evaluate a real security advisory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Evaluation sheet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Reflection and Day 2 prep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Short written answer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The Afternoon Is Not a Half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Tasks 5 and 6 carry the unit.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Between them they are the whole of LO2 — perform workplace duties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Task 3 is yours alone.</a:t>
            </a:r>
            <a:r>
              <a:rPr b="0" sz="1500">
                <a:solidFill>
                  <a:srgbClr val="333333"/>
                </a:solidFill>
                <a:latin typeface="Calibri"/>
              </a:rPr>
              <a:t> Write the handover from your own notes.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Leave a gap where you missed something and write "would confirm".</a:t>
            </a:r>
          </a:p>
          <a:p>
            <a:pPr>
              <a:spcAft>
                <a:spcPts val="700"/>
              </a:spcAft>
              <a:defRPr sz="600"/>
            </a:pPr>
          </a:p>
          <a:p>
            <a:pPr>
              <a:spcAft>
                <a:spcPts val="700"/>
              </a:spcAft>
              <a:defRPr sz="1500"/>
            </a:pPr>
            <a:r>
              <a:rPr b="1" sz="1500">
                <a:solidFill>
                  <a:srgbClr val="333333"/>
                </a:solidFill>
                <a:latin typeface="Calibri"/>
              </a:rPr>
              <a:t>Task 5, Q1 is about a clock.</a:t>
            </a:r>
            <a:r>
              <a:rPr b="0" sz="1500">
                <a:solidFill>
                  <a:srgbClr val="333333"/>
                </a:solidFill>
                <a:latin typeface="Calibri"/>
              </a:rPr>
              <a:t> Almost everybody gets it wrong.</a:t>
            </a:r>
          </a:p>
          <a:p>
            <a:pPr>
              <a:spcAft>
                <a:spcPts val="300"/>
              </a:spcAft>
              <a:defRPr sz="1300"/>
            </a:pPr>
            <a:r>
              <a:rPr b="0" sz="1300">
                <a:solidFill>
                  <a:srgbClr val="555555"/>
                </a:solidFill>
                <a:latin typeface="Calibri"/>
              </a:rPr>
              <a:t>     Read §3.3 twice. We open Day 2 with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Reading an SOP: Watch the Verbs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shall / must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Mandatory. You have no discretion.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should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Expected. If you deviate, you must be able to justify it.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Your judgement — usually conditional on documenting it.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shall not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You have no authority. This is the edge of your role.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within X minutes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A clock is running. Know exactly when it starts.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Advisory vs Change Notice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931920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rPr b="1" sz="1300">
                <a:solidFill>
                  <a:srgbClr val="FFFFFF"/>
                </a:solidFill>
                <a:latin typeface="Calibri"/>
              </a:rPr>
              <a:t>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Tells you a threat, patch, or vulnerability exists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Usually informational, sometimes actionable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May change how you handle a detection type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Example: "7.4.2 gives false positives on signed binaries — verify manually before escalating"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931920" cy="45720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rPr b="1" sz="1300">
                <a:solidFill>
                  <a:srgbClr val="FFFFFF"/>
                </a:solidFill>
                <a:latin typeface="Calibri"/>
              </a:rPr>
              <a:t>CHANGE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Tells you a system will be modified at a set time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Always relevant to your queue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Scheduled change is the #1 cause of false alerts</a:t>
            </a:r>
          </a:p>
          <a:p>
            <a:pPr>
              <a:spcAft>
                <a:spcPts val="700"/>
              </a:spcAft>
              <a:defRPr sz="1200"/>
            </a:pPr>
          </a:p>
          <a:p>
            <a:pPr>
              <a:spcAft>
                <a:spcPts val="700"/>
              </a:spcAft>
              <a:defRPr sz="1200"/>
            </a:pPr>
            <a:r>
              <a:rPr b="0" sz="1200">
                <a:solidFill>
                  <a:srgbClr val="333333"/>
                </a:solidFill>
                <a:latin typeface="Calibri"/>
              </a:rPr>
              <a:t>It tells you what is NOT covered just as much as what 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Who Owns What on One Alert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59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821"/>
                <a:gridCol w="1905802"/>
                <a:gridCol w="1732547"/>
                <a:gridCol w="1992429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L1 (you)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SOC Manager</a:t>
                      </a:r>
                    </a:p>
                  </a:txBody>
                  <a:tcPr marL="73152" marR="73152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Alert triage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Responsible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Consulted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Informed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Ticket creation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Responsible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Informed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Investigation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Consulted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Responsible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Informed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Client notification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Responsible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Consulted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Accountable</a:t>
                      </a:r>
                    </a:p>
                  </a:txBody>
                  <a:tcPr marL="73152" marR="73152">
                    <a:solidFill>
                      <a:srgbClr val="EFF3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Containment decision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Consulted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b="0" sz="1100">
                          <a:solidFill>
                            <a:srgbClr val="333333"/>
                          </a:solidFill>
                          <a:latin typeface="Calibri"/>
                        </a:rPr>
                        <a:t>Accountable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2400"/>
            </a:pPr>
            <a:r>
              <a:rPr b="1" sz="24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52728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0700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A handover has five sections — and it is where information gets dropped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0136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Read back the identifier, the action, and the notification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41448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Three triggers to ask: don't understand, contradicts SOP, exceeds authority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35808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9008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shall = mandatory, should = justify, may = document, shall not = escalate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You are never Accountable for a containment decision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24528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7880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Keep every piece of evidence — it is your portfolio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818888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7316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00"/>
            </a:pPr>
            <a:r>
              <a:rPr b="0" sz="1300">
                <a:solidFill>
                  <a:srgbClr val="333333"/>
                </a:solidFill>
                <a:latin typeface="Calibri"/>
              </a:rPr>
              <a:t>The afternoon pack is due tonight. Tasks 5 and 6 are the ones that count.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6869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/>
            </a:pPr>
            <a:r>
              <a:rPr b="1" sz="1500">
                <a:solidFill>
                  <a:srgbClr val="009688"/>
                </a:solidFill>
                <a:latin typeface="Calibri"/>
              </a:rPr>
              <a:t>Next — Day 2: Solving routine problems on a real desk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/>
            </a:pPr>
            <a:r>
              <a:rPr b="0" sz="900">
                <a:solidFill>
                  <a:srgbClr val="AACCDD"/>
                </a:solidFill>
                <a:latin typeface="Calibri"/>
              </a:rPr>
              <a:t>Cyber Threat Monitoring Level I  |  TESDA CBT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